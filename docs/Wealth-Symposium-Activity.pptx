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280160" y="-1645920"/>
            <a:ext cx="5669280" cy="5669280"/>
          </a:xfrm>
          <a:prstGeom prst="ellipse">
            <a:avLst/>
          </a:prstGeom>
          <a:solidFill>
            <a:srgbClr val="D9C6FF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8079" y="-1828800"/>
            <a:ext cx="5852160" cy="5852160"/>
          </a:xfrm>
          <a:prstGeom prst="ellipse">
            <a:avLst/>
          </a:prstGeom>
          <a:solidFill>
            <a:srgbClr val="F6C9E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840480" y="4206240"/>
            <a:ext cx="4937760" cy="4937760"/>
          </a:xfrm>
          <a:prstGeom prst="ellipse">
            <a:avLst/>
          </a:prstGeom>
          <a:solidFill>
            <a:srgbClr val="C9D8F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WEALTH SYMPOSIUM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731520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0" b="1">
                <a:solidFill>
                  <a:srgbClr val="1E1B2E"/>
                </a:solidFill>
                <a:latin typeface="Calibri"/>
              </a:rPr>
              <a:t>AI Powered,
Human 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6400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0">
                <a:solidFill>
                  <a:srgbClr val="5C5870"/>
                </a:solidFill>
                <a:latin typeface="Calibri"/>
              </a:rPr>
              <a:t>Ideate your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5C5870"/>
                </a:solidFill>
                <a:latin typeface="Calibri"/>
              </a:rPr>
              <a:t>We demo one round. Then every group does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280160" y="-1645920"/>
            <a:ext cx="5669280" cy="5669280"/>
          </a:xfrm>
          <a:prstGeom prst="ellipse">
            <a:avLst/>
          </a:prstGeom>
          <a:solidFill>
            <a:srgbClr val="D9C6FF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8079" y="-1828800"/>
            <a:ext cx="5852160" cy="5852160"/>
          </a:xfrm>
          <a:prstGeom prst="ellipse">
            <a:avLst/>
          </a:prstGeom>
          <a:solidFill>
            <a:srgbClr val="F6C9E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840480" y="4206240"/>
            <a:ext cx="4937760" cy="4937760"/>
          </a:xfrm>
          <a:prstGeom prst="ellipse">
            <a:avLst/>
          </a:prstGeom>
          <a:solidFill>
            <a:srgbClr val="C9D8F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6B4EFF"/>
                </a:solidFill>
                <a:latin typeface="Calibri"/>
              </a:rPr>
              <a:t>THE 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1E1B2E"/>
                </a:solidFill>
                <a:latin typeface="Calibri"/>
              </a:rPr>
              <a:t>Thirty minutes. One laptop. Then you present.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25880"/>
            <a:ext cx="2761488" cy="324612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508760"/>
            <a:ext cx="2377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920240"/>
            <a:ext cx="237744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E1B2E"/>
                </a:solidFill>
                <a:latin typeface="Calibri"/>
              </a:rPr>
              <a:t>Painpoint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926080"/>
            <a:ext cx="23774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5C5870"/>
                </a:solidFill>
                <a:latin typeface="Calibri"/>
              </a:rPr>
              <a:t>Pick the one that hurts most, or write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325880"/>
            <a:ext cx="2761488" cy="324612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1508760"/>
            <a:ext cx="2377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1920240"/>
            <a:ext cx="237744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E1B2E"/>
                </a:solidFill>
                <a:latin typeface="Calibri"/>
              </a:rPr>
              <a:t>Idea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926080"/>
            <a:ext cx="23774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5C5870"/>
                </a:solidFill>
                <a:latin typeface="Calibri"/>
              </a:rPr>
              <a:t>Name it. What it does. What you receive. The benefit.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25880"/>
            <a:ext cx="2761488" cy="324612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508760"/>
            <a:ext cx="2377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10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920240"/>
            <a:ext cx="237744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E1B2E"/>
                </a:solidFill>
                <a:latin typeface="Calibri"/>
              </a:rPr>
              <a:t>3 screens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926080"/>
            <a:ext cx="23774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5C5870"/>
                </a:solidFill>
                <a:latin typeface="Calibri"/>
              </a:rPr>
              <a:t>Write each step, then generate the screen.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25880"/>
            <a:ext cx="2761488" cy="324612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0888" y="1508760"/>
            <a:ext cx="2377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15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0888" y="1920240"/>
            <a:ext cx="237744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E1B2E"/>
                </a:solidFill>
                <a:latin typeface="Calibri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0888" y="2926080"/>
            <a:ext cx="23774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5C5870"/>
                </a:solidFill>
                <a:latin typeface="Calibri"/>
              </a:rPr>
              <a:t>Make it clickable. One or two edits.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800600"/>
            <a:ext cx="11338560" cy="141732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956048"/>
            <a:ext cx="36576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Before you 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57800"/>
            <a:ext cx="65836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1E1B2E"/>
                </a:solidFill>
                <a:latin typeface="Calibri"/>
              </a:rPr>
              <a:t>Nominate one leader. They drive the laptop. Everyone else decides.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5029200"/>
            <a:ext cx="393192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5C5870"/>
                </a:solidFill>
                <a:latin typeface="Calibri"/>
              </a:rPr>
              <a:t>90 seconds to close
painpoint · idea · prototype · benefit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-1280160"/>
            <a:ext cx="4023360" cy="4023360"/>
          </a:xfrm>
          <a:prstGeom prst="ellipse">
            <a:avLst/>
          </a:prstGeom>
          <a:solidFill>
            <a:srgbClr val="E4D8FF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754880"/>
            <a:ext cx="3291840" cy="3291840"/>
          </a:xfrm>
          <a:prstGeom prst="ellipse">
            <a:avLst/>
          </a:prstGeom>
          <a:solidFill>
            <a:srgbClr val="F8D8EE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6B4EFF"/>
                </a:solidFill>
                <a:latin typeface="Calibri"/>
              </a:rPr>
              <a:t>APPENDIX  ·  PRINT FOR THE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STEP 0  ·  INSIDE THE FIRST 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1E1B2E"/>
                </a:solidFill>
                <a:latin typeface="Calibri"/>
              </a:rPr>
              <a:t>Choose the painpoint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11247120" cy="448056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07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1E1B2E"/>
                </a:solidFill>
                <a:latin typeface="Calibri"/>
              </a:rPr>
              <a:t>1.  Nominate the person who will use the laptop. The others talk.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1E1B2E"/>
                </a:solidFill>
                <a:latin typeface="Calibri"/>
              </a:rPr>
              <a:t>2.  Read the nine cards. Pick the one the group feels most strongly.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1E1B2E"/>
                </a:solidFill>
                <a:latin typeface="Calibri"/>
              </a:rPr>
              <a:t>3.  Do not pick the one that merely sounds impressive.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1E1B2E"/>
                </a:solidFill>
                <a:latin typeface="Calibri"/>
              </a:rPr>
              <a:t>4.  If none of them is yours, write your own in the long box at the bottom.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1E1B2E"/>
                </a:solidFill>
                <a:latin typeface="Calibri"/>
              </a:rPr>
              <a:t>5.  Press Next. The same five minutes also cover the idea brief.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-1280160"/>
            <a:ext cx="4023360" cy="4023360"/>
          </a:xfrm>
          <a:prstGeom prst="ellipse">
            <a:avLst/>
          </a:prstGeom>
          <a:solidFill>
            <a:srgbClr val="E4D8FF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754880"/>
            <a:ext cx="3291840" cy="3291840"/>
          </a:xfrm>
          <a:prstGeom prst="ellipse">
            <a:avLst/>
          </a:prstGeom>
          <a:solidFill>
            <a:srgbClr val="F8D8EE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6B4EFF"/>
                </a:solidFill>
                <a:latin typeface="Calibri"/>
              </a:rPr>
              <a:t>APPENDIX  ·  PRINT FOR THE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STEP 1  ·  STILL INSIDE THE FIRST 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1E1B2E"/>
                </a:solidFill>
                <a:latin typeface="Calibri"/>
              </a:rPr>
              <a:t>Write the idea brief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11247120" cy="448056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The painpoint is already there. Leave it.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Name your agent. Short enough to say out loud, for example EDD guru.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What exactly is the agent doing as your assistant?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As the RM, what do you expect to see and receive?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What is the benefit for you, or for the client?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Click a box if you want help. Empty: Get some inspiration. Written: Refine prompt.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-1280160"/>
            <a:ext cx="4023360" cy="4023360"/>
          </a:xfrm>
          <a:prstGeom prst="ellipse">
            <a:avLst/>
          </a:prstGeom>
          <a:solidFill>
            <a:srgbClr val="E4D8FF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754880"/>
            <a:ext cx="3291840" cy="3291840"/>
          </a:xfrm>
          <a:prstGeom prst="ellipse">
            <a:avLst/>
          </a:prstGeom>
          <a:solidFill>
            <a:srgbClr val="F8D8EE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6B4EFF"/>
                </a:solidFill>
                <a:latin typeface="Calibri"/>
              </a:rPr>
              <a:t>APPENDIX  ·  PRINT FOR THE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STEP 2  ·  10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1E1B2E"/>
                </a:solidFill>
                <a:latin typeface="Calibri"/>
              </a:rPr>
              <a:t>Design three screens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11247120" cy="448056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Think of three steps, in order. What the assistant does, and what you then see.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Write one or two sentences in Screen 1 prompt, Screen 2 prompt, and Screen 3 prompt.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Press Generate screen on the empty picture.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When a picture is there, hover it for Generate screen again and full screen.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Nothing written yet: Get some inspiration drafts all three prompts.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A prompt with text: the assistant refines only that screen.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-1280160"/>
            <a:ext cx="4023360" cy="4023360"/>
          </a:xfrm>
          <a:prstGeom prst="ellipse">
            <a:avLst/>
          </a:prstGeom>
          <a:solidFill>
            <a:srgbClr val="E4D8FF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754880"/>
            <a:ext cx="3291840" cy="3291840"/>
          </a:xfrm>
          <a:prstGeom prst="ellipse">
            <a:avLst/>
          </a:prstGeom>
          <a:solidFill>
            <a:srgbClr val="F8D8EE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6B4EFF"/>
                </a:solidFill>
                <a:latin typeface="Calibri"/>
              </a:rPr>
              <a:t>APPENDIX  ·  PRINT FOR THE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7315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4EFF"/>
                </a:solidFill>
                <a:latin typeface="Calibri"/>
              </a:rPr>
              <a:t>STEP 3  ·  15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1E1B2E"/>
                </a:solidFill>
                <a:latin typeface="Calibri"/>
              </a:rPr>
              <a:t>Build it, then present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6903720" cy="452628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6217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6B4EFF"/>
                </a:solidFill>
                <a:latin typeface="Calibri"/>
              </a:rP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6309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E1B2E"/>
                </a:solidFill>
                <a:latin typeface="Calibri"/>
              </a:rPr>
              <a:t>Generate the prototype. It builds one screen at a time.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E1B2E"/>
                </a:solidFill>
                <a:latin typeface="Calibri"/>
              </a:rPr>
              <a:t>Make one or two changes. Use Refine screen.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E1B2E"/>
                </a:solidFill>
                <a:latin typeface="Calibri"/>
              </a:rPr>
              <a:t>When all three are done, go back to Screen 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691640"/>
            <a:ext cx="4160520" cy="4526280"/>
          </a:xfrm>
          <a:prstGeom prst="roundRect">
            <a:avLst>
              <a:gd name="adj" fmla="val 8000"/>
            </a:avLst>
          </a:prstGeom>
          <a:solidFill>
            <a:srgbClr val="FFFFFF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6B4EFF"/>
                </a:solidFill>
                <a:latin typeface="Calibri"/>
              </a:rPr>
              <a:t>90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468880"/>
            <a:ext cx="3657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1  Your painpoint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2  Your agent idea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3  Walk the prototype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E1B2E"/>
                </a:solidFill>
                <a:latin typeface="Calibri"/>
              </a:rPr>
              <a:t>4  The key benefit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