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D4F0"/>
            </a:gs>
            <a:gs pos="42000">
              <a:srgbClr val="E7DEFF"/>
            </a:gs>
            <a:gs pos="100000">
              <a:srgbClr val="E4EEFF"/>
            </a:gs>
          </a:gsLst>
          <a:lin scaled="1" ang="27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B4EFF"/>
                </a:solidFill>
                <a:latin typeface="Calibri"/>
              </a:rPr>
              <a:t>WEALTH SYMPOSIUM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1E1B2E"/>
                </a:solidFill>
                <a:latin typeface="Calibri"/>
              </a:rPr>
              <a:t>AI Powered,
Human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5C5870"/>
                </a:solidFill>
                <a:latin typeface="Calibri"/>
              </a:rPr>
              <a:t>Ideate your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C5870"/>
                </a:solidFill>
                <a:latin typeface="Calibri"/>
              </a:rPr>
              <a:t>We demo one round. Then every group does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D4F0"/>
            </a:gs>
            <a:gs pos="42000">
              <a:srgbClr val="E7DEFF"/>
            </a:gs>
            <a:gs pos="100000">
              <a:srgbClr val="E4EEFF"/>
            </a:gs>
          </a:gsLst>
          <a:lin scaled="1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B4EFF"/>
                </a:solidFill>
                <a:latin typeface="Calibri"/>
              </a:rPr>
              <a:t>THE 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1B2E"/>
                </a:solidFill>
                <a:latin typeface="Calibri"/>
              </a:rPr>
              <a:t>Thirty minutes. One laptop. Then you present.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097280"/>
            <a:ext cx="27889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176" y="1280160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0848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EFF"/>
                </a:solidFill>
                <a:latin typeface="Calibr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1B2E"/>
                </a:solidFill>
                <a:latin typeface="Calibri"/>
              </a:rPr>
              <a:t>Painpoint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3108960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C5870"/>
                </a:solidFill>
                <a:latin typeface="Calibri"/>
              </a:rPr>
              <a:t>Pick the one that hurts most, or write your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1097280"/>
            <a:ext cx="27889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544" y="1280160"/>
            <a:ext cx="713232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93008" y="20848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EFF"/>
                </a:solidFill>
                <a:latin typeface="Calibri"/>
              </a:rPr>
              <a:t>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377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1B2E"/>
                </a:solidFill>
                <a:latin typeface="Calibri"/>
              </a:rPr>
              <a:t>Idea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3108960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C5870"/>
                </a:solidFill>
                <a:latin typeface="Calibri"/>
              </a:rPr>
              <a:t>Name it. What it does. What you receive. The benefit.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097280"/>
            <a:ext cx="27889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12" y="1280160"/>
            <a:ext cx="713232" cy="713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7376" y="20848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EFF"/>
                </a:solidFill>
                <a:latin typeface="Calibri"/>
              </a:rPr>
              <a:t>10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77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1B2E"/>
                </a:solidFill>
                <a:latin typeface="Calibri"/>
              </a:rPr>
              <a:t>3 screens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108960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C5870"/>
                </a:solidFill>
                <a:latin typeface="Calibri"/>
              </a:rPr>
              <a:t>Write each step, then generate the screen.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097280"/>
            <a:ext cx="27889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1280160"/>
            <a:ext cx="713232" cy="713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81744" y="20848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EFF"/>
                </a:solidFill>
                <a:latin typeface="Calibri"/>
              </a:rPr>
              <a:t>15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377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1B2E"/>
                </a:solidFill>
                <a:latin typeface="Calibri"/>
              </a:rPr>
              <a:t>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108960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C5870"/>
                </a:solidFill>
                <a:latin typeface="Calibri"/>
              </a:rPr>
              <a:t>Make it clickable. One or two edits.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4800600"/>
            <a:ext cx="11411712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ea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07492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80160" y="50109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1B2E"/>
                </a:solidFill>
                <a:latin typeface="Calibri"/>
              </a:rPr>
              <a:t>One leader on the laptop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37667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Everyone else decides.</a:t>
            </a:r>
          </a:p>
        </p:txBody>
      </p:sp>
      <p:pic>
        <p:nvPicPr>
          <p:cNvPr id="28" name="Picture 27" descr="pres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5074920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812280" y="50109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1B2E"/>
                </a:solidFill>
                <a:latin typeface="Calibri"/>
              </a:rPr>
              <a:t>90 seconds to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53766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Painpoint  ·  idea  ·  prototype  ·  benefit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7FF"/>
            </a:gs>
            <a:gs pos="48000">
              <a:srgbClr val="F4ECFF"/>
            </a:gs>
            <a:gs pos="100000">
              <a:srgbClr val="EEF3FF"/>
            </a:gs>
          </a:gsLst>
          <a:lin scaled="1" ang="18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 ·   PRINT FOR THE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Choose the painpoint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3856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16824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Nominate the person who will use the laptop. The others talk.</a:t>
            </a:r>
          </a:p>
        </p:txBody>
      </p:sp>
      <p:pic>
        <p:nvPicPr>
          <p:cNvPr id="8" name="Picture 7" descr="p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591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239572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Read the nine cards. Pick the one the group feels most strongly.</a:t>
            </a:r>
          </a:p>
        </p:txBody>
      </p:sp>
      <p:pic>
        <p:nvPicPr>
          <p:cNvPr id="10" name="Picture 9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7238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10896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Do not pick the one that merely sounds impressive.</a:t>
            </a:r>
          </a:p>
        </p:txBody>
      </p:sp>
      <p:pic>
        <p:nvPicPr>
          <p:cNvPr id="12" name="Picture 11" descr="penc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785615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3822191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If none of them is yours, write your own along the bottom.</a:t>
            </a:r>
          </a:p>
        </p:txBody>
      </p:sp>
      <p:pic>
        <p:nvPicPr>
          <p:cNvPr id="14" name="Picture 13" descr="n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98848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4535424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Press Next. These five minutes also cover the idea brief.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7FF"/>
            </a:gs>
            <a:gs pos="48000">
              <a:srgbClr val="F4ECFF"/>
            </a:gs>
            <a:gs pos="100000">
              <a:srgbClr val="EEF3FF"/>
            </a:gs>
          </a:gsLst>
          <a:lin scaled="1" ang="18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 ·   PRINT FOR THE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1   ·   SAME 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Write the idea brief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1338560" cy="4416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159105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The painpoint is already there. Leave it.</a:t>
            </a:r>
          </a:p>
        </p:txBody>
      </p:sp>
      <p:pic>
        <p:nvPicPr>
          <p:cNvPr id="8" name="Picture 7" descr="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6771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230428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Name your agent. Short enough to say, for example EDD guru.</a:t>
            </a:r>
          </a:p>
        </p:txBody>
      </p:sp>
      <p:pic>
        <p:nvPicPr>
          <p:cNvPr id="10" name="Picture 9" descr="sp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98094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01752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What exactly is the agent doing as your assistant?</a:t>
            </a:r>
          </a:p>
        </p:txBody>
      </p:sp>
      <p:pic>
        <p:nvPicPr>
          <p:cNvPr id="12" name="Picture 11" descr="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9417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373075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As the RM, what do you expect to see and receive?</a:t>
            </a:r>
          </a:p>
        </p:txBody>
      </p:sp>
      <p:pic>
        <p:nvPicPr>
          <p:cNvPr id="14" name="Picture 13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07408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4443984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What is the benefit for you, or for the client?</a:t>
            </a:r>
          </a:p>
        </p:txBody>
      </p:sp>
      <p:pic>
        <p:nvPicPr>
          <p:cNvPr id="16" name="Picture 15" descr="ch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2064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515721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Click a box for help. Empty: Get some inspiration. Written: Refine prompt.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7FF"/>
            </a:gs>
            <a:gs pos="48000">
              <a:srgbClr val="F4ECFF"/>
            </a:gs>
            <a:gs pos="100000">
              <a:srgbClr val="EEF3FF"/>
            </a:gs>
          </a:gsLst>
          <a:lin scaled="1" ang="18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 ·   PRINT FOR THE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2   ·   10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Design three screens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1338560" cy="4416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159105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Three steps, in order. What the assistant does, and what you then see.</a:t>
            </a:r>
          </a:p>
        </p:txBody>
      </p:sp>
      <p:pic>
        <p:nvPicPr>
          <p:cNvPr id="8" name="Picture 7" descr="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6771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230428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One or two sentences in Screen 1, Screen 2, and Screen 3 prompt.</a:t>
            </a:r>
          </a:p>
        </p:txBody>
      </p:sp>
      <p:pic>
        <p:nvPicPr>
          <p:cNvPr id="10" name="Picture 9" descr="pr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98094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01752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Press Generate screen on the empty picture.</a:t>
            </a:r>
          </a:p>
        </p:txBody>
      </p:sp>
      <p:pic>
        <p:nvPicPr>
          <p:cNvPr id="12" name="Picture 11" descr="nex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9417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373075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When a picture is there, hover it to regenerate or open it full screen.</a:t>
            </a:r>
          </a:p>
        </p:txBody>
      </p:sp>
      <p:pic>
        <p:nvPicPr>
          <p:cNvPr id="14" name="Picture 13" descr="sp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07408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4443984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Nothing written yet: Get some inspiration drafts all three prompts.</a:t>
            </a:r>
          </a:p>
        </p:txBody>
      </p:sp>
      <p:pic>
        <p:nvPicPr>
          <p:cNvPr id="16" name="Picture 15" descr="ch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2064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515721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1B2E"/>
                </a:solidFill>
                <a:latin typeface="Calibri"/>
              </a:rPr>
              <a:t>A prompt with text: the assistant refines only that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7FF"/>
            </a:gs>
            <a:gs pos="48000">
              <a:srgbClr val="F4ECFF"/>
            </a:gs>
            <a:gs pos="100000">
              <a:srgbClr val="EEF3FF"/>
            </a:gs>
          </a:gsLst>
          <a:lin scaled="1" ang="18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 ·   PRINT FOR THE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3   ·   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Build it, then present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7040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B4EFF"/>
                </a:solidFill>
                <a:latin typeface="Calibri"/>
              </a:rPr>
              <a:t>Prototype</a:t>
            </a:r>
          </a:p>
        </p:txBody>
      </p:sp>
      <p:pic>
        <p:nvPicPr>
          <p:cNvPr id="7" name="Picture 6" descr="pr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402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22860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1B2E"/>
                </a:solidFill>
                <a:latin typeface="Calibri"/>
              </a:rPr>
              <a:t>Generate it. One screen builds at a time.</a:t>
            </a:r>
          </a:p>
        </p:txBody>
      </p:sp>
      <p:pic>
        <p:nvPicPr>
          <p:cNvPr id="9" name="Picture 8" descr="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38328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1B2E"/>
                </a:solidFill>
                <a:latin typeface="Calibri"/>
              </a:rPr>
              <a:t>Make one or two changes with Refine screen.</a:t>
            </a:r>
          </a:p>
        </p:txBody>
      </p:sp>
      <p:pic>
        <p:nvPicPr>
          <p:cNvPr id="11" name="Picture 10" descr="scre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4348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448056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1B2E"/>
                </a:solidFill>
                <a:latin typeface="Calibri"/>
              </a:rPr>
              <a:t>When all three are done, go back to Screen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554480"/>
            <a:ext cx="41148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res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78308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1812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E1B2E"/>
                </a:solidFill>
                <a:latin typeface="Calibri"/>
              </a:rPr>
              <a:t>90 seconds</a:t>
            </a:r>
          </a:p>
        </p:txBody>
      </p:sp>
      <p:pic>
        <p:nvPicPr>
          <p:cNvPr id="16" name="Picture 15" descr="p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79" y="3063240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58200" y="308152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2E"/>
                </a:solidFill>
                <a:latin typeface="Calibri"/>
              </a:rPr>
              <a:t>Your painpoint</a:t>
            </a:r>
          </a:p>
        </p:txBody>
      </p:sp>
      <p:pic>
        <p:nvPicPr>
          <p:cNvPr id="18" name="Picture 17" descr="bri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79" y="3749039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3767327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2E"/>
                </a:solidFill>
                <a:latin typeface="Calibri"/>
              </a:rPr>
              <a:t>Your agent idea</a:t>
            </a:r>
          </a:p>
        </p:txBody>
      </p:sp>
      <p:pic>
        <p:nvPicPr>
          <p:cNvPr id="20" name="Picture 19" descr="pr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4434840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8200" y="445312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2E"/>
                </a:solidFill>
                <a:latin typeface="Calibri"/>
              </a:rPr>
              <a:t>Walk the prototype</a:t>
            </a:r>
          </a:p>
        </p:txBody>
      </p:sp>
      <p:pic>
        <p:nvPicPr>
          <p:cNvPr id="22" name="Picture 21" descr="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79" y="5120640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58200" y="513892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2E"/>
                </a:solidFill>
                <a:latin typeface="Calibri"/>
              </a:rPr>
              <a:t>The key benefit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