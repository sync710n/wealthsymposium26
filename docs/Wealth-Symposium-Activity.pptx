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1F2"/>
            </a:gs>
            <a:gs pos="38000">
              <a:srgbClr val="F8D0D4"/>
            </a:gs>
            <a:gs pos="100000">
              <a:srgbClr val="FFF7F6"/>
            </a:gs>
          </a:gsLst>
          <a:lin scaled="1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Calibri"/>
              </a:rPr>
              <a:t>WEALTH SYMPOSIUM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3736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1A1A1A"/>
                </a:solidFill>
                <a:latin typeface="Calibri"/>
              </a:rPr>
              <a:t>AI Powered,
Human 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5C5354"/>
                </a:solidFill>
                <a:latin typeface="Calibri"/>
              </a:rPr>
              <a:t>Ideate your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54"/>
                </a:solidFill>
                <a:latin typeface="Calibri"/>
              </a:rPr>
              <a:t>We demo one round. Then every group does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325880"/>
            <a:ext cx="40690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66420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7556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Painpoint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51460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62432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Calibri"/>
              </a:rPr>
              <a:t>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715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Idea brief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47472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58444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Calibri"/>
              </a:rPr>
              <a:t>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6758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3 screens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443484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544568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Calibri"/>
              </a:rPr>
              <a:t>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636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1F2"/>
            </a:gs>
            <a:gs pos="38000">
              <a:srgbClr val="F8D0D4"/>
            </a:gs>
            <a:gs pos="100000">
              <a:srgbClr val="FFF7F6"/>
            </a:gs>
          </a:gsLst>
          <a:lin scaled="1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Calibri"/>
              </a:rPr>
              <a:t>THE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Thirty minutes. One laptop. Then you present.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1417320"/>
            <a:ext cx="868680" cy="86868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1" y="1536192"/>
            <a:ext cx="621792" cy="621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8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Calibri"/>
              </a:rPr>
              <a:t>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6700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Calibri"/>
              </a:rPr>
              <a:t>Painpoint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324612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5354"/>
                </a:solidFill>
                <a:latin typeface="Calibri"/>
              </a:rPr>
              <a:t>The card that hurts most, or your 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3444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417320"/>
            <a:ext cx="868680" cy="86868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i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1" y="1536192"/>
            <a:ext cx="621792" cy="621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01568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Calibri"/>
              </a:rPr>
              <a:t>same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6700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Calibri"/>
              </a:rPr>
              <a:t>Idea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24612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5354"/>
                </a:solidFill>
                <a:latin typeface="Calibri"/>
              </a:rPr>
              <a:t>Name, job, what you receive, benefit.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3444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78040" y="1417320"/>
            <a:ext cx="868680" cy="86868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1" y="1536192"/>
            <a:ext cx="621792" cy="621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73368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Calibri"/>
              </a:rPr>
              <a:t>10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700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Calibri"/>
              </a:rPr>
              <a:t>3 screens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24612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5354"/>
                </a:solidFill>
                <a:latin typeface="Calibri"/>
              </a:rPr>
              <a:t>Write the step. Generate the screen.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234440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9840" y="1417320"/>
            <a:ext cx="868680" cy="86868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ro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8711" y="1536192"/>
            <a:ext cx="621792" cy="6217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345168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B0011"/>
                </a:solidFill>
                <a:latin typeface="Calibri"/>
              </a:rPr>
              <a:t>15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6700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Calibri"/>
              </a:rPr>
              <a:t>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324612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5354"/>
                </a:solidFill>
                <a:latin typeface="Calibri"/>
              </a:rPr>
              <a:t>Clickable. One or two edits.</a:t>
            </a:r>
          </a:p>
        </p:txBody>
      </p:sp>
      <p:pic>
        <p:nvPicPr>
          <p:cNvPr id="28" name="Picture 27" descr="n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1572768"/>
            <a:ext cx="384048" cy="384048"/>
          </a:xfrm>
          <a:prstGeom prst="rect">
            <a:avLst/>
          </a:prstGeom>
        </p:spPr>
      </p:pic>
      <p:pic>
        <p:nvPicPr>
          <p:cNvPr id="29" name="Picture 28" descr="n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72" y="1572768"/>
            <a:ext cx="384048" cy="384048"/>
          </a:xfrm>
          <a:prstGeom prst="rect">
            <a:avLst/>
          </a:prstGeom>
        </p:spPr>
      </p:pic>
      <p:pic>
        <p:nvPicPr>
          <p:cNvPr id="30" name="Picture 29" descr="n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5672" y="1572768"/>
            <a:ext cx="384048" cy="3840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65760" y="4800600"/>
            <a:ext cx="56235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ea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212080"/>
            <a:ext cx="640080" cy="640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17320" y="5074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One leader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532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They drive the laptop. The others decide.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800600"/>
            <a:ext cx="562356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res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212080"/>
            <a:ext cx="640080" cy="6400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23760" y="50749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90 seconds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532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Painpoint, idea, prototype, benefit.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1F2"/>
            </a:gs>
            <a:gs pos="38000">
              <a:srgbClr val="F8D0D4"/>
            </a:gs>
            <a:gs pos="100000">
              <a:srgbClr val="FFF7F6"/>
            </a:gs>
          </a:gsLst>
          <a:lin scaled="1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Calibri"/>
              </a:rPr>
              <a:t>APPENDIX  ·  PRINT     STEP 0  ·  FIRST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Choose the painpoint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672084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B0011"/>
                </a:solidFill>
                <a:latin typeface="Calibri"/>
              </a:rPr>
              <a:t>Nine cards. Pick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3055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3055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87451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13055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7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8211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2607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DB0011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318211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92607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18211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7763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3367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397763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23367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3977639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233671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5354"/>
                </a:solidFill>
                <a:latin typeface="Calibri"/>
              </a:rPr>
              <a:t>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120640"/>
            <a:ext cx="6172200" cy="960120"/>
          </a:xfrm>
          <a:prstGeom prst="roundRect">
            <a:avLst>
              <a:gd name="adj" fmla="val 8000"/>
            </a:avLst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40" y="5349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Or write your own on the long row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1143000"/>
            <a:ext cx="448056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41732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53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One leader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180136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They use the laptop.</a:t>
            </a:r>
          </a:p>
        </p:txBody>
      </p:sp>
      <p:pic>
        <p:nvPicPr>
          <p:cNvPr id="31" name="Picture 30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17520"/>
            <a:ext cx="548640" cy="548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7532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Not the impressive 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40156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The one that actually hurts.</a:t>
            </a:r>
          </a:p>
        </p:txBody>
      </p:sp>
      <p:pic>
        <p:nvPicPr>
          <p:cNvPr id="34" name="Picture 33" descr="n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617720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7532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Then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00176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The brief shares these 5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1F2"/>
            </a:gs>
            <a:gs pos="38000">
              <a:srgbClr val="F8D0D4"/>
            </a:gs>
            <a:gs pos="100000">
              <a:srgbClr val="FFF7F6"/>
            </a:gs>
          </a:gsLst>
          <a:lin scaled="1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Calibri"/>
              </a:rPr>
              <a:t>APPENDIX  ·  PRINT     STEP 1  ·  SAME 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The idea brief is four boxes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960120" cy="96012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64208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1 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0574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Short, like EDD guru.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508760"/>
            <a:ext cx="960120" cy="96012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664208"/>
            <a:ext cx="658368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15087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2  What it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574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The job, as your assistant.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5468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3566160"/>
            <a:ext cx="960120" cy="96012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721608"/>
            <a:ext cx="658368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83080" y="3566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3  What you receive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148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What you see or get 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54680"/>
            <a:ext cx="56692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3566160"/>
            <a:ext cx="960120" cy="96012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3721608"/>
            <a:ext cx="658368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80960" y="3566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4  The benefit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1148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For you, or for the client.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49240"/>
            <a:ext cx="114300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596128"/>
            <a:ext cx="548640" cy="548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2588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B0011"/>
                </a:solidFill>
                <a:latin typeface="Calibri"/>
              </a:rPr>
              <a:t>AI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8704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Empty box: Get some inspiration.     Written box: Refine prompt.     The painpoint stays as you picked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1F2"/>
            </a:gs>
            <a:gs pos="38000">
              <a:srgbClr val="F8D0D4"/>
            </a:gs>
            <a:gs pos="100000">
              <a:srgbClr val="FFF7F6"/>
            </a:gs>
          </a:gsLst>
          <a:lin scaled="1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Calibri"/>
              </a:rPr>
              <a:t>APPENDIX  ·  PRINT     STEP 2  ·  10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Three screens, in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2971800" cy="1965960"/>
          </a:xfrm>
          <a:prstGeom prst="roundRect">
            <a:avLst>
              <a:gd name="adj" fmla="val 8000"/>
            </a:avLst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B001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Calibri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5354"/>
                </a:solidFill>
                <a:latin typeface="Calibri"/>
              </a:rPr>
              <a:t>One or two sentences.</a:t>
            </a:r>
          </a:p>
        </p:txBody>
      </p:sp>
      <p:pic>
        <p:nvPicPr>
          <p:cNvPr id="9" name="Picture 8" descr="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651760"/>
            <a:ext cx="384048" cy="3840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97680" y="105156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280160"/>
            <a:ext cx="2971800" cy="1965960"/>
          </a:xfrm>
          <a:prstGeom prst="roundRect">
            <a:avLst>
              <a:gd name="adj" fmla="val 8000"/>
            </a:avLst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B001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4290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Calibri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77639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5354"/>
                </a:solidFill>
                <a:latin typeface="Calibri"/>
              </a:rPr>
              <a:t>The picture lands here.</a:t>
            </a:r>
          </a:p>
        </p:txBody>
      </p:sp>
      <p:pic>
        <p:nvPicPr>
          <p:cNvPr id="15" name="Picture 14" descr="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2651760"/>
            <a:ext cx="384048" cy="3840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229600" y="1051560"/>
            <a:ext cx="3520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0" y="1280160"/>
            <a:ext cx="2971800" cy="1965960"/>
          </a:xfrm>
          <a:prstGeom prst="roundRect">
            <a:avLst>
              <a:gd name="adj" fmla="val 8000"/>
            </a:avLst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78308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B0011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290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1A1A"/>
                </a:solidFill>
                <a:latin typeface="Calibri"/>
              </a:rPr>
              <a:t>Hover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77639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5354"/>
                </a:solidFill>
                <a:latin typeface="Calibri"/>
              </a:rPr>
              <a:t>Redo it, or open it full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39496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p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23560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88720" y="5532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Calibri"/>
              </a:rPr>
              <a:t>All empty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833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Inspiration drafts all three.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539496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623560"/>
            <a:ext cx="502920" cy="502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95160" y="5532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B0011"/>
                </a:solidFill>
                <a:latin typeface="Calibri"/>
              </a:rPr>
              <a:t>One box 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58338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Refine only that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1F2"/>
            </a:gs>
            <a:gs pos="38000">
              <a:srgbClr val="F8D0D4"/>
            </a:gs>
            <a:gs pos="100000">
              <a:srgbClr val="FFF7F6"/>
            </a:gs>
          </a:gsLst>
          <a:lin scaled="1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B0011"/>
                </a:solidFill>
                <a:latin typeface="Calibri"/>
              </a:rPr>
              <a:t>APPENDIX  ·  PRINT     STEP 3  ·  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Build it, then present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0408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463040"/>
            <a:ext cx="822960" cy="82296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81912"/>
            <a:ext cx="585216" cy="585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1  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It builds one screen at a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34639"/>
            <a:ext cx="70408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3200399"/>
            <a:ext cx="822960" cy="82296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enc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319271"/>
            <a:ext cx="585216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31089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2   One or two edits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65759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Use Refine 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572000"/>
            <a:ext cx="704088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4937760"/>
            <a:ext cx="822960" cy="822960"/>
          </a:xfrm>
          <a:prstGeom prst="ellipse">
            <a:avLst/>
          </a:prstGeom>
          <a:solidFill>
            <a:srgbClr val="F8D0D4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056632"/>
            <a:ext cx="585216" cy="5852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45920" y="4846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3   Back to Screen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394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354"/>
                </a:solidFill>
                <a:latin typeface="Calibri"/>
              </a:rPr>
              <a:t>Start the story from the beginning.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097280"/>
            <a:ext cx="42062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44450" dir="2700000" algn="tl" rotWithShape="0">
              <a:srgbClr val="8A001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es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280160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20116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Calibri"/>
              </a:rPr>
              <a:t>90 seconds</a:t>
            </a:r>
          </a:p>
        </p:txBody>
      </p:sp>
      <p:pic>
        <p:nvPicPr>
          <p:cNvPr id="22" name="Picture 21" descr="p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2606040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Painpoint</a:t>
            </a:r>
          </a:p>
        </p:txBody>
      </p:sp>
      <p:pic>
        <p:nvPicPr>
          <p:cNvPr id="24" name="Picture 23" descr="bri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3474720"/>
            <a:ext cx="438912" cy="438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58200" y="35204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Agent idea</a:t>
            </a:r>
          </a:p>
        </p:txBody>
      </p:sp>
      <p:pic>
        <p:nvPicPr>
          <p:cNvPr id="26" name="Picture 25" descr="pr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343400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458200" y="4389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Walk the prototype</a:t>
            </a:r>
          </a:p>
        </p:txBody>
      </p:sp>
      <p:pic>
        <p:nvPicPr>
          <p:cNvPr id="28" name="Picture 27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5212079"/>
            <a:ext cx="438912" cy="4389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58200" y="525779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Key benefit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