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1068933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256032"/>
            <a:ext cx="5120640" cy="256032"/>
          </a:xfrm>
          <a:prstGeom prst="rect">
            <a:avLst/>
          </a:prstGeom>
          <a:noFill/>
        </p:spPr>
        <p:txBody>
          <a:bodyPr wrap="square" lIns="0" rIns="0" tIns="0" bIns="0"/>
          <a:lstStyle/>
          <a:p>
            <a:pPr algn="l">
              <a:lnSpc>
                <a:spcPct val="105000"/>
              </a:lnSpc>
              <a:spcBef>
                <a:spcPts val="0"/>
              </a:spcBef>
              <a:spcAft>
                <a:spcPts val="200"/>
              </a:spcAft>
            </a:pPr>
            <a:r>
              <a:rPr sz="1100" b="1">
                <a:solidFill>
                  <a:srgbClr val="DB0011"/>
                </a:solidFill>
                <a:latin typeface="Calibri"/>
                <a:ea typeface="Calibri"/>
                <a:cs typeface="Calibri"/>
              </a:rPr>
              <a:t>WEALTH SYMPOSIUM  ·  FACILITATOR GUIDE</a:t>
            </a:r>
          </a:p>
        </p:txBody>
      </p:sp>
      <p:sp>
        <p:nvSpPr>
          <p:cNvPr id="5" name="TextBox 4"/>
          <p:cNvSpPr txBox="1"/>
          <p:nvPr/>
        </p:nvSpPr>
        <p:spPr>
          <a:xfrm>
            <a:off x="5029200" y="256032"/>
            <a:ext cx="2148840" cy="256032"/>
          </a:xfrm>
          <a:prstGeom prst="rect">
            <a:avLst/>
          </a:prstGeom>
          <a:noFill/>
        </p:spPr>
        <p:txBody>
          <a:bodyPr wrap="square" lIns="0" rIns="0" tIns="0" bIns="0"/>
          <a:lstStyle/>
          <a:p>
            <a:pPr algn="r">
              <a:lnSpc>
                <a:spcPct val="105000"/>
              </a:lnSpc>
              <a:spcBef>
                <a:spcPts val="0"/>
              </a:spcBef>
              <a:spcAft>
                <a:spcPts val="200"/>
              </a:spcAft>
            </a:pPr>
            <a:r>
              <a:rPr sz="1100" b="0">
                <a:solidFill>
                  <a:srgbClr val="4A4A4A"/>
                </a:solidFill>
                <a:latin typeface="Calibri"/>
                <a:ea typeface="Calibri"/>
                <a:cs typeface="Calibri"/>
              </a:rPr>
              <a:t>01  Purpose</a:t>
            </a:r>
          </a:p>
        </p:txBody>
      </p:sp>
      <p:sp>
        <p:nvSpPr>
          <p:cNvPr id="6" name="Rectangle 5"/>
          <p:cNvSpPr/>
          <p:nvPr/>
        </p:nvSpPr>
        <p:spPr>
          <a:xfrm>
            <a:off x="384048" y="566928"/>
            <a:ext cx="6784848" cy="13716"/>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0314432"/>
            <a:ext cx="6784848" cy="219456"/>
          </a:xfrm>
          <a:prstGeom prst="rect">
            <a:avLst/>
          </a:prstGeom>
          <a:noFill/>
        </p:spPr>
        <p:txBody>
          <a:bodyPr wrap="square" lIns="0" rIns="0" tIns="0" bIns="0"/>
          <a:lstStyle/>
          <a:p>
            <a:pPr algn="l">
              <a:lnSpc>
                <a:spcPct val="105000"/>
              </a:lnSpc>
              <a:spcBef>
                <a:spcPts val="0"/>
              </a:spcBef>
              <a:spcAft>
                <a:spcPts val="200"/>
              </a:spcAft>
            </a:pPr>
            <a:r>
              <a:rPr sz="1000" b="0">
                <a:solidFill>
                  <a:srgbClr val="4A4A4A"/>
                </a:solidFill>
                <a:latin typeface="Calibri"/>
                <a:ea typeface="Calibri"/>
                <a:cs typeface="Calibri"/>
              </a:rPr>
              <a:t>AI Powered, Human Led  ·  Do not hand this sheet to the groups</a:t>
            </a:r>
          </a:p>
        </p:txBody>
      </p:sp>
      <p:sp>
        <p:nvSpPr>
          <p:cNvPr id="8" name="TextBox 7"/>
          <p:cNvSpPr txBox="1"/>
          <p:nvPr/>
        </p:nvSpPr>
        <p:spPr>
          <a:xfrm>
            <a:off x="384048" y="713232"/>
            <a:ext cx="6784848" cy="384048"/>
          </a:xfrm>
          <a:prstGeom prst="rect">
            <a:avLst/>
          </a:prstGeom>
          <a:noFill/>
        </p:spPr>
        <p:txBody>
          <a:bodyPr wrap="square" lIns="0" rIns="0" tIns="0" bIns="0"/>
          <a:lstStyle/>
          <a:p>
            <a:pPr algn="l">
              <a:lnSpc>
                <a:spcPct val="105000"/>
              </a:lnSpc>
              <a:spcBef>
                <a:spcPts val="0"/>
              </a:spcBef>
              <a:spcAft>
                <a:spcPts val="200"/>
              </a:spcAft>
            </a:pPr>
            <a:r>
              <a:rPr sz="2600" b="1">
                <a:solidFill>
                  <a:srgbClr val="1A1A1A"/>
                </a:solidFill>
                <a:latin typeface="Calibri"/>
                <a:ea typeface="Calibri"/>
                <a:cs typeface="Calibri"/>
              </a:rPr>
              <a:t>Run the hour. Don't design it for them.</a:t>
            </a:r>
          </a:p>
        </p:txBody>
      </p:sp>
      <p:sp>
        <p:nvSpPr>
          <p:cNvPr id="9" name="TextBox 8"/>
          <p:cNvSpPr txBox="1"/>
          <p:nvPr/>
        </p:nvSpPr>
        <p:spPr>
          <a:xfrm>
            <a:off x="384048" y="1207008"/>
            <a:ext cx="6784848" cy="1051560"/>
          </a:xfrm>
          <a:prstGeom prst="rect">
            <a:avLst/>
          </a:prstGeom>
          <a:noFill/>
        </p:spPr>
        <p:txBody>
          <a:bodyPr wrap="square" lIns="0" rIns="0" tIns="0" bIns="0"/>
          <a:lstStyle/>
          <a:p>
            <a:pPr algn="l">
              <a:lnSpc>
                <a:spcPct val="105000"/>
              </a:lnSpc>
              <a:spcBef>
                <a:spcPts val="0"/>
              </a:spcBef>
              <a:spcAft>
                <a:spcPts val="800"/>
              </a:spcAft>
            </a:pPr>
            <a:r>
              <a:rPr sz="1500" b="0">
                <a:solidFill>
                  <a:srgbClr val="1A1A1A"/>
                </a:solidFill>
                <a:latin typeface="Calibri"/>
                <a:ea typeface="Calibri"/>
                <a:cs typeface="Calibri"/>
              </a:rPr>
              <a:t>Ten groups. Five relationship managers. One laptop, driven by one leader. In thirty minutes of making they turn one real painpoint into a named agent, three screens, and a clickable demo. Then each group has ninety seconds.</a:t>
            </a:r>
          </a:p>
          <a:p>
            <a:pPr algn="l">
              <a:lnSpc>
                <a:spcPct val="105000"/>
              </a:lnSpc>
              <a:spcBef>
                <a:spcPts val="0"/>
              </a:spcBef>
              <a:spcAft>
                <a:spcPts val="200"/>
              </a:spcAft>
            </a:pPr>
            <a:r>
              <a:rPr sz="1500" b="0">
                <a:solidFill>
                  <a:srgbClr val="1A1A1A"/>
                </a:solidFill>
                <a:latin typeface="Calibri"/>
                <a:ea typeface="Calibri"/>
                <a:cs typeface="Calibri"/>
              </a:rPr>
              <a:t>You are not teaching a tool, and you are not picking a winner. You are there to see which pain they choose when the choice is free, and whether the agent they describe actually stays inside that pain.</a:t>
            </a:r>
          </a:p>
        </p:txBody>
      </p:sp>
      <p:sp>
        <p:nvSpPr>
          <p:cNvPr id="10" name="Rectangle 9"/>
          <p:cNvSpPr/>
          <p:nvPr/>
        </p:nvSpPr>
        <p:spPr>
          <a:xfrm>
            <a:off x="384048" y="2468880"/>
            <a:ext cx="73152" cy="105156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468880"/>
            <a:ext cx="6537960" cy="1051560"/>
          </a:xfrm>
          <a:prstGeom prst="rect">
            <a:avLst/>
          </a:prstGeom>
          <a:noFill/>
        </p:spPr>
        <p:txBody>
          <a:bodyPr wrap="square" lIns="0" rIns="0" tIns="0" bIns="0"/>
          <a:lstStyle/>
          <a:p>
            <a:pPr algn="l">
              <a:lnSpc>
                <a:spcPct val="105000"/>
              </a:lnSpc>
              <a:spcBef>
                <a:spcPts val="0"/>
              </a:spcBef>
              <a:spcAft>
                <a:spcPts val="400"/>
              </a:spcAft>
            </a:pPr>
            <a:r>
              <a:rPr sz="1600" b="1">
                <a:solidFill>
                  <a:srgbClr val="1A1A1A"/>
                </a:solidFill>
                <a:latin typeface="Calibri"/>
                <a:ea typeface="Calibri"/>
                <a:cs typeface="Calibri"/>
              </a:rPr>
              <a:t>Your job</a:t>
            </a:r>
          </a:p>
          <a:p>
            <a:pPr algn="l">
              <a:lnSpc>
                <a:spcPct val="105000"/>
              </a:lnSpc>
              <a:spcBef>
                <a:spcPts val="0"/>
              </a:spcBef>
              <a:spcAft>
                <a:spcPts val="200"/>
              </a:spcAft>
            </a:pPr>
            <a:r>
              <a:rPr sz="1400" b="0">
                <a:solidFill>
                  <a:srgbClr val="4A4A4A"/>
                </a:solidFill>
                <a:latin typeface="Calibri"/>
                <a:ea typeface="Calibri"/>
                <a:cs typeface="Calibri"/>
              </a:rPr>
              <a:t>Keep every group inside one painpoint, and get every group to the ninety seconds with something they can show. A rough demo that they can walk through beats a polished prompt that never gets built.</a:t>
            </a:r>
          </a:p>
        </p:txBody>
      </p:sp>
      <p:sp>
        <p:nvSpPr>
          <p:cNvPr id="12" name="Rectangle 11"/>
          <p:cNvSpPr/>
          <p:nvPr/>
        </p:nvSpPr>
        <p:spPr>
          <a:xfrm>
            <a:off x="384048" y="3639312"/>
            <a:ext cx="73152" cy="105156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 y="3639312"/>
            <a:ext cx="6537960" cy="1051560"/>
          </a:xfrm>
          <a:prstGeom prst="rect">
            <a:avLst/>
          </a:prstGeom>
          <a:noFill/>
        </p:spPr>
        <p:txBody>
          <a:bodyPr wrap="square" lIns="0" rIns="0" tIns="0" bIns="0"/>
          <a:lstStyle/>
          <a:p>
            <a:pPr algn="l">
              <a:lnSpc>
                <a:spcPct val="105000"/>
              </a:lnSpc>
              <a:spcBef>
                <a:spcPts val="0"/>
              </a:spcBef>
              <a:spcAft>
                <a:spcPts val="400"/>
              </a:spcAft>
            </a:pPr>
            <a:r>
              <a:rPr sz="1600" b="1">
                <a:solidFill>
                  <a:srgbClr val="1A1A1A"/>
                </a:solidFill>
                <a:latin typeface="Calibri"/>
                <a:ea typeface="Calibri"/>
                <a:cs typeface="Calibri"/>
              </a:rPr>
              <a:t>A good group looks like</a:t>
            </a:r>
          </a:p>
          <a:p>
            <a:pPr algn="l">
              <a:lnSpc>
                <a:spcPct val="105000"/>
              </a:lnSpc>
              <a:spcBef>
                <a:spcPts val="0"/>
              </a:spcBef>
              <a:spcAft>
                <a:spcPts val="200"/>
              </a:spcAft>
            </a:pPr>
            <a:r>
              <a:rPr sz="1400" b="0">
                <a:solidFill>
                  <a:srgbClr val="4A4A4A"/>
                </a:solidFill>
                <a:latin typeface="Calibri"/>
                <a:ea typeface="Calibri"/>
                <a:cs typeface="Calibri"/>
              </a:rPr>
              <a:t>They argue about the pain, not about the wording. The agent does one job. The three screens are three different moments, in order. The benefit is something a client or an RM would notice on Thursday, not a slogan.</a:t>
            </a:r>
          </a:p>
        </p:txBody>
      </p:sp>
      <p:sp>
        <p:nvSpPr>
          <p:cNvPr id="14" name="Rectangle 13"/>
          <p:cNvSpPr/>
          <p:nvPr/>
        </p:nvSpPr>
        <p:spPr>
          <a:xfrm>
            <a:off x="384048" y="4809744"/>
            <a:ext cx="73152" cy="105156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4809744"/>
            <a:ext cx="6537960" cy="1051560"/>
          </a:xfrm>
          <a:prstGeom prst="rect">
            <a:avLst/>
          </a:prstGeom>
          <a:noFill/>
        </p:spPr>
        <p:txBody>
          <a:bodyPr wrap="square" lIns="0" rIns="0" tIns="0" bIns="0"/>
          <a:lstStyle/>
          <a:p>
            <a:pPr algn="l">
              <a:lnSpc>
                <a:spcPct val="105000"/>
              </a:lnSpc>
              <a:spcBef>
                <a:spcPts val="0"/>
              </a:spcBef>
              <a:spcAft>
                <a:spcPts val="400"/>
              </a:spcAft>
            </a:pPr>
            <a:r>
              <a:rPr sz="1600" b="1">
                <a:solidFill>
                  <a:srgbClr val="1A1A1A"/>
                </a:solidFill>
                <a:latin typeface="Calibri"/>
                <a:ea typeface="Calibri"/>
                <a:cs typeface="Calibri"/>
              </a:rPr>
              <a:t>What you take away</a:t>
            </a:r>
          </a:p>
          <a:p>
            <a:pPr algn="l">
              <a:lnSpc>
                <a:spcPct val="105000"/>
              </a:lnSpc>
              <a:spcBef>
                <a:spcPts val="0"/>
              </a:spcBef>
              <a:spcAft>
                <a:spcPts val="200"/>
              </a:spcAft>
            </a:pPr>
            <a:r>
              <a:rPr sz="1400" b="0">
                <a:solidFill>
                  <a:srgbClr val="4A4A4A"/>
                </a:solidFill>
                <a:latin typeface="Calibri"/>
                <a:ea typeface="Calibri"/>
                <a:cs typeface="Calibri"/>
              </a:rPr>
              <a:t>A tally of which painpoints were chosen, including how many groups wrote their own. The agent name and the one benefit, in their words. Do not rank the screens.</a:t>
            </a:r>
          </a:p>
        </p:txBody>
      </p:sp>
      <p:sp>
        <p:nvSpPr>
          <p:cNvPr id="16" name="TextBox 15"/>
          <p:cNvSpPr txBox="1"/>
          <p:nvPr/>
        </p:nvSpPr>
        <p:spPr>
          <a:xfrm>
            <a:off x="384048" y="6126480"/>
            <a:ext cx="6784848" cy="1371600"/>
          </a:xfrm>
          <a:prstGeom prst="rect">
            <a:avLst/>
          </a:prstGeom>
          <a:noFill/>
        </p:spPr>
        <p:txBody>
          <a:bodyPr wrap="square" lIns="0" rIns="0" tIns="0" bIns="0"/>
          <a:lstStyle/>
          <a:p>
            <a:pPr algn="l">
              <a:lnSpc>
                <a:spcPct val="105000"/>
              </a:lnSpc>
              <a:spcBef>
                <a:spcPts val="0"/>
              </a:spcBef>
              <a:spcAft>
                <a:spcPts val="600"/>
              </a:spcAft>
            </a:pPr>
            <a:r>
              <a:rPr sz="1600" b="1">
                <a:solidFill>
                  <a:srgbClr val="1A1A1A"/>
                </a:solidFill>
                <a:latin typeface="Calibri"/>
                <a:ea typeface="Calibri"/>
                <a:cs typeface="Calibri"/>
              </a:rPr>
              <a:t>Three things, if the room gets noisy</a:t>
            </a:r>
          </a:p>
          <a:p>
            <a:pPr algn="l">
              <a:lnSpc>
                <a:spcPct val="105000"/>
              </a:lnSpc>
              <a:spcBef>
                <a:spcPts val="0"/>
              </a:spcBef>
              <a:spcAft>
                <a:spcPts val="300"/>
              </a:spcAft>
            </a:pPr>
            <a:r>
              <a:rPr sz="1400" b="0">
                <a:solidFill>
                  <a:srgbClr val="1A1A1A"/>
                </a:solidFill>
                <a:latin typeface="Calibri"/>
                <a:ea typeface="Calibri"/>
                <a:cs typeface="Calibri"/>
              </a:rPr>
              <a:t>1   One leader. Everyone else talks. They press Start fresh, not Resume.</a:t>
            </a:r>
          </a:p>
          <a:p>
            <a:pPr algn="l">
              <a:lnSpc>
                <a:spcPct val="105000"/>
              </a:lnSpc>
              <a:spcBef>
                <a:spcPts val="0"/>
              </a:spcBef>
              <a:spcAft>
                <a:spcPts val="300"/>
              </a:spcAft>
            </a:pPr>
            <a:r>
              <a:rPr sz="1400" b="0">
                <a:solidFill>
                  <a:srgbClr val="1A1A1A"/>
                </a:solidFill>
                <a:latin typeface="Calibri"/>
                <a:ea typeface="Calibri"/>
                <a:cs typeface="Calibri"/>
              </a:rPr>
              <a:t>2   Stay on the pain they picked. If the sentence could belong to any agent, it is not done.</a:t>
            </a:r>
          </a:p>
          <a:p>
            <a:pPr algn="l">
              <a:lnSpc>
                <a:spcPct val="105000"/>
              </a:lnSpc>
              <a:spcBef>
                <a:spcPts val="0"/>
              </a:spcBef>
              <a:spcAft>
                <a:spcPts val="200"/>
              </a:spcAft>
            </a:pPr>
            <a:r>
              <a:rPr sz="1400" b="0">
                <a:solidFill>
                  <a:srgbClr val="1A1A1A"/>
                </a:solidFill>
                <a:latin typeface="Calibri"/>
                <a:ea typeface="Calibri"/>
                <a:cs typeface="Calibri"/>
              </a:rPr>
              <a:t>3   Stop polishing. One or two edits on the demo, then present.</a:t>
            </a:r>
          </a:p>
        </p:txBody>
      </p:sp>
      <p:sp>
        <p:nvSpPr>
          <p:cNvPr id="17" name="Rectangle 16"/>
          <p:cNvSpPr/>
          <p:nvPr/>
        </p:nvSpPr>
        <p:spPr>
          <a:xfrm>
            <a:off x="384048" y="7726679"/>
            <a:ext cx="6784848" cy="2286000"/>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7863840"/>
            <a:ext cx="6446520" cy="2011680"/>
          </a:xfrm>
          <a:prstGeom prst="rect">
            <a:avLst/>
          </a:prstGeom>
          <a:noFill/>
        </p:spPr>
        <p:txBody>
          <a:bodyPr wrap="square" lIns="0" rIns="0" tIns="0" bIns="0"/>
          <a:lstStyle/>
          <a:p>
            <a:pPr algn="l">
              <a:lnSpc>
                <a:spcPct val="105000"/>
              </a:lnSpc>
              <a:spcBef>
                <a:spcPts val="0"/>
              </a:spcBef>
              <a:spcAft>
                <a:spcPts val="600"/>
              </a:spcAft>
            </a:pPr>
            <a:r>
              <a:rPr sz="1600" b="1">
                <a:solidFill>
                  <a:srgbClr val="1A1A1A"/>
                </a:solidFill>
                <a:latin typeface="Calibri"/>
                <a:ea typeface="Calibri"/>
                <a:cs typeface="Calibri"/>
              </a:rPr>
              <a:t>Leave the choice free</a:t>
            </a:r>
          </a:p>
          <a:p>
            <a:pPr algn="l">
              <a:lnSpc>
                <a:spcPct val="105000"/>
              </a:lnSpc>
              <a:spcBef>
                <a:spcPts val="0"/>
              </a:spcBef>
              <a:spcAft>
                <a:spcPts val="800"/>
              </a:spcAft>
            </a:pPr>
            <a:r>
              <a:rPr sz="1400" b="0">
                <a:solidFill>
                  <a:srgbClr val="1A1A1A"/>
                </a:solidFill>
                <a:latin typeface="Calibri"/>
                <a:ea typeface="Calibri"/>
                <a:cs typeface="Calibri"/>
              </a:rPr>
              <a:t>Do not steer a group off a card because another group already took it. If seven groups pick the same pain, that is the finding. Say so in the close. Do not apologise for it, and do not ask them to pick again so the wall looks balanced.</a:t>
            </a:r>
          </a:p>
          <a:p>
            <a:pPr algn="l">
              <a:lnSpc>
                <a:spcPct val="105000"/>
              </a:lnSpc>
              <a:spcBef>
                <a:spcPts val="0"/>
              </a:spcBef>
              <a:spcAft>
                <a:spcPts val="200"/>
              </a:spcAft>
            </a:pPr>
            <a:r>
              <a:rPr sz="1400" b="0">
                <a:solidFill>
                  <a:srgbClr val="1A1A1A"/>
                </a:solidFill>
                <a:latin typeface="Calibri"/>
                <a:ea typeface="Calibri"/>
                <a:cs typeface="Calibri"/>
              </a:rPr>
              <a:t>The only time you intervene on the choice is when they have drifted into a feature request. “An agent that summarises everything” is not a painpoint. Send them back to the card, or to a situation they can picture with a client in the room.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1068933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256032"/>
            <a:ext cx="5120640" cy="256032"/>
          </a:xfrm>
          <a:prstGeom prst="rect">
            <a:avLst/>
          </a:prstGeom>
          <a:noFill/>
        </p:spPr>
        <p:txBody>
          <a:bodyPr wrap="square" lIns="0" rIns="0" tIns="0" bIns="0"/>
          <a:lstStyle/>
          <a:p>
            <a:pPr algn="l">
              <a:lnSpc>
                <a:spcPct val="105000"/>
              </a:lnSpc>
              <a:spcBef>
                <a:spcPts val="0"/>
              </a:spcBef>
              <a:spcAft>
                <a:spcPts val="200"/>
              </a:spcAft>
            </a:pPr>
            <a:r>
              <a:rPr sz="1100" b="1">
                <a:solidFill>
                  <a:srgbClr val="DB0011"/>
                </a:solidFill>
                <a:latin typeface="Calibri"/>
                <a:ea typeface="Calibri"/>
                <a:cs typeface="Calibri"/>
              </a:rPr>
              <a:t>WEALTH SYMPOSIUM  ·  FACILITATOR GUIDE</a:t>
            </a:r>
          </a:p>
        </p:txBody>
      </p:sp>
      <p:sp>
        <p:nvSpPr>
          <p:cNvPr id="5" name="TextBox 4"/>
          <p:cNvSpPr txBox="1"/>
          <p:nvPr/>
        </p:nvSpPr>
        <p:spPr>
          <a:xfrm>
            <a:off x="5029200" y="256032"/>
            <a:ext cx="2148840" cy="256032"/>
          </a:xfrm>
          <a:prstGeom prst="rect">
            <a:avLst/>
          </a:prstGeom>
          <a:noFill/>
        </p:spPr>
        <p:txBody>
          <a:bodyPr wrap="square" lIns="0" rIns="0" tIns="0" bIns="0"/>
          <a:lstStyle/>
          <a:p>
            <a:pPr algn="r">
              <a:lnSpc>
                <a:spcPct val="105000"/>
              </a:lnSpc>
              <a:spcBef>
                <a:spcPts val="0"/>
              </a:spcBef>
              <a:spcAft>
                <a:spcPts val="200"/>
              </a:spcAft>
            </a:pPr>
            <a:r>
              <a:rPr sz="1100" b="0">
                <a:solidFill>
                  <a:srgbClr val="4A4A4A"/>
                </a:solidFill>
                <a:latin typeface="Calibri"/>
                <a:ea typeface="Calibri"/>
                <a:cs typeface="Calibri"/>
              </a:rPr>
              <a:t>02  Room and clock</a:t>
            </a:r>
          </a:p>
        </p:txBody>
      </p:sp>
      <p:sp>
        <p:nvSpPr>
          <p:cNvPr id="6" name="Rectangle 5"/>
          <p:cNvSpPr/>
          <p:nvPr/>
        </p:nvSpPr>
        <p:spPr>
          <a:xfrm>
            <a:off x="384048" y="566928"/>
            <a:ext cx="6784848" cy="13716"/>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0314432"/>
            <a:ext cx="6784848" cy="219456"/>
          </a:xfrm>
          <a:prstGeom prst="rect">
            <a:avLst/>
          </a:prstGeom>
          <a:noFill/>
        </p:spPr>
        <p:txBody>
          <a:bodyPr wrap="square" lIns="0" rIns="0" tIns="0" bIns="0"/>
          <a:lstStyle/>
          <a:p>
            <a:pPr algn="l">
              <a:lnSpc>
                <a:spcPct val="105000"/>
              </a:lnSpc>
              <a:spcBef>
                <a:spcPts val="0"/>
              </a:spcBef>
              <a:spcAft>
                <a:spcPts val="200"/>
              </a:spcAft>
            </a:pPr>
            <a:r>
              <a:rPr sz="1000" b="0">
                <a:solidFill>
                  <a:srgbClr val="4A4A4A"/>
                </a:solidFill>
                <a:latin typeface="Calibri"/>
                <a:ea typeface="Calibri"/>
                <a:cs typeface="Calibri"/>
              </a:rPr>
              <a:t>AI Powered, Human Led  ·  Do not hand this sheet to the groups</a:t>
            </a:r>
          </a:p>
        </p:txBody>
      </p:sp>
      <p:sp>
        <p:nvSpPr>
          <p:cNvPr id="8" name="TextBox 7"/>
          <p:cNvSpPr txBox="1"/>
          <p:nvPr/>
        </p:nvSpPr>
        <p:spPr>
          <a:xfrm>
            <a:off x="384048" y="713232"/>
            <a:ext cx="6784848" cy="384048"/>
          </a:xfrm>
          <a:prstGeom prst="rect">
            <a:avLst/>
          </a:prstGeom>
          <a:noFill/>
        </p:spPr>
        <p:txBody>
          <a:bodyPr wrap="square" lIns="0" rIns="0" tIns="0" bIns="0"/>
          <a:lstStyle/>
          <a:p>
            <a:pPr algn="l">
              <a:lnSpc>
                <a:spcPct val="105000"/>
              </a:lnSpc>
              <a:spcBef>
                <a:spcPts val="0"/>
              </a:spcBef>
              <a:spcAft>
                <a:spcPts val="200"/>
              </a:spcAft>
            </a:pPr>
            <a:r>
              <a:rPr sz="2600" b="1">
                <a:solidFill>
                  <a:srgbClr val="1A1A1A"/>
                </a:solidFill>
                <a:latin typeface="Calibri"/>
                <a:ea typeface="Calibri"/>
                <a:cs typeface="Calibri"/>
              </a:rPr>
              <a:t>Set the room before they sit down.</a:t>
            </a:r>
          </a:p>
        </p:txBody>
      </p:sp>
      <p:sp>
        <p:nvSpPr>
          <p:cNvPr id="9" name="TextBox 8"/>
          <p:cNvSpPr txBox="1"/>
          <p:nvPr/>
        </p:nvSpPr>
        <p:spPr>
          <a:xfrm>
            <a:off x="384048" y="1170432"/>
            <a:ext cx="6784848" cy="2148840"/>
          </a:xfrm>
          <a:prstGeom prst="rect">
            <a:avLst/>
          </a:prstGeom>
          <a:noFill/>
        </p:spPr>
        <p:txBody>
          <a:bodyPr wrap="square" lIns="0" rIns="0" tIns="0" bIns="0"/>
          <a:lstStyle/>
          <a:p>
            <a:pPr algn="l">
              <a:lnSpc>
                <a:spcPct val="105000"/>
              </a:lnSpc>
              <a:spcBef>
                <a:spcPts val="0"/>
              </a:spcBef>
              <a:spcAft>
                <a:spcPts val="400"/>
              </a:spcAft>
            </a:pPr>
            <a:r>
              <a:rPr sz="1600" b="1">
                <a:solidFill>
                  <a:srgbClr val="1A1A1A"/>
                </a:solidFill>
                <a:latin typeface="Calibri"/>
                <a:ea typeface="Calibri"/>
                <a:cs typeface="Calibri"/>
              </a:rPr>
              <a:t>On each laptop, before the session</a:t>
            </a:r>
          </a:p>
          <a:p>
            <a:pPr algn="l">
              <a:lnSpc>
                <a:spcPct val="105000"/>
              </a:lnSpc>
              <a:spcBef>
                <a:spcPts val="0"/>
              </a:spcBef>
              <a:spcAft>
                <a:spcPts val="200"/>
              </a:spcAft>
            </a:pPr>
            <a:r>
              <a:rPr sz="1400" b="0">
                <a:solidFill>
                  <a:srgbClr val="1A1A1A"/>
                </a:solidFill>
                <a:latin typeface="Calibri"/>
                <a:ea typeface="Calibri"/>
                <a:cs typeface="Calibri"/>
              </a:rPr>
              <a:t>Open the activity in one browser tab, full screen. Use the link you have already tested on that network.</a:t>
            </a:r>
          </a:p>
          <a:p>
            <a:pPr algn="l">
              <a:lnSpc>
                <a:spcPct val="105000"/>
              </a:lnSpc>
              <a:spcBef>
                <a:spcPts val="0"/>
              </a:spcBef>
              <a:spcAft>
                <a:spcPts val="400"/>
              </a:spcAft>
            </a:pPr>
            <a:r>
              <a:rPr sz="1400" b="1">
                <a:solidFill>
                  <a:srgbClr val="DB0011"/>
                </a:solidFill>
                <a:latin typeface="Calibri"/>
                <a:ea typeface="Calibri"/>
                <a:cs typeface="Calibri"/>
              </a:rPr>
              <a:t>https://sync710n.github.io/wealthsymposium26/</a:t>
            </a:r>
          </a:p>
          <a:p>
            <a:pPr algn="l">
              <a:lnSpc>
                <a:spcPct val="105000"/>
              </a:lnSpc>
              <a:spcBef>
                <a:spcPts val="0"/>
              </a:spcBef>
              <a:spcAft>
                <a:spcPts val="400"/>
              </a:spcAft>
            </a:pPr>
            <a:r>
              <a:rPr sz="1400" b="0">
                <a:solidFill>
                  <a:srgbClr val="1A1A1A"/>
                </a:solidFill>
                <a:latin typeface="Calibri"/>
                <a:ea typeface="Calibri"/>
                <a:cs typeface="Calibri"/>
              </a:rPr>
              <a:t>Leave it on the cover. Do not press Start fresh until you say go. If a laptop was used in rehearsal, Start fresh once, then return to the cover only if Resume is not showing. You want a clean cover: Start fresh, and no Resume.</a:t>
            </a:r>
          </a:p>
          <a:p>
            <a:pPr algn="l">
              <a:lnSpc>
                <a:spcPct val="105000"/>
              </a:lnSpc>
              <a:spcBef>
                <a:spcPts val="0"/>
              </a:spcBef>
              <a:spcAft>
                <a:spcPts val="400"/>
              </a:spcAft>
            </a:pPr>
            <a:r>
              <a:rPr sz="1400" b="0">
                <a:solidFill>
                  <a:srgbClr val="1A1A1A"/>
                </a:solidFill>
                <a:latin typeface="Calibri"/>
                <a:ea typeface="Calibri"/>
                <a:cs typeface="Calibri"/>
              </a:rPr>
              <a:t>Use the zoom control until a person at the back of the table can read a painpoint card. The printed desk card stays face up. You keep this guide. They do not get it.</a:t>
            </a:r>
          </a:p>
          <a:p>
            <a:pPr algn="l">
              <a:lnSpc>
                <a:spcPct val="105000"/>
              </a:lnSpc>
              <a:spcBef>
                <a:spcPts val="0"/>
              </a:spcBef>
              <a:spcAft>
                <a:spcPts val="200"/>
              </a:spcAft>
            </a:pPr>
            <a:r>
              <a:rPr sz="1400" b="0">
                <a:solidFill>
                  <a:srgbClr val="1A1A1A"/>
                </a:solidFill>
                <a:latin typeface="Calibri"/>
                <a:ea typeface="Calibri"/>
                <a:cs typeface="Calibri"/>
              </a:rPr>
              <a:t>Your laptop is the only one on the big screen. Have one finished example already generated, in case a live generation stalls.</a:t>
            </a:r>
          </a:p>
        </p:txBody>
      </p:sp>
      <p:sp>
        <p:nvSpPr>
          <p:cNvPr id="10" name="TextBox 9"/>
          <p:cNvSpPr txBox="1"/>
          <p:nvPr/>
        </p:nvSpPr>
        <p:spPr>
          <a:xfrm>
            <a:off x="384048" y="3429000"/>
            <a:ext cx="6784848" cy="292608"/>
          </a:xfrm>
          <a:prstGeom prst="rect">
            <a:avLst/>
          </a:prstGeom>
          <a:noFill/>
        </p:spPr>
        <p:txBody>
          <a:bodyPr wrap="square" lIns="0" rIns="0" tIns="0" bIns="0"/>
          <a:lstStyle/>
          <a:p>
            <a:pPr algn="l">
              <a:lnSpc>
                <a:spcPct val="105000"/>
              </a:lnSpc>
              <a:spcBef>
                <a:spcPts val="0"/>
              </a:spcBef>
              <a:spcAft>
                <a:spcPts val="200"/>
              </a:spcAft>
            </a:pPr>
            <a:r>
              <a:rPr sz="1600" b="1">
                <a:solidFill>
                  <a:srgbClr val="1A1A1A"/>
                </a:solidFill>
                <a:latin typeface="Calibri"/>
                <a:ea typeface="Calibri"/>
                <a:cs typeface="Calibri"/>
              </a:rPr>
              <a:t>The clock on their laptop</a:t>
            </a:r>
          </a:p>
        </p:txBody>
      </p:sp>
      <p:sp>
        <p:nvSpPr>
          <p:cNvPr id="11" name="TextBox 10"/>
          <p:cNvSpPr txBox="1"/>
          <p:nvPr/>
        </p:nvSpPr>
        <p:spPr>
          <a:xfrm>
            <a:off x="384048" y="3730752"/>
            <a:ext cx="6784848" cy="640080"/>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Each phase has its own timer. It starts when that laptop enters the phase, not when you start speaking. Call the changes out loud so the room stays together. A group that finishes early may go on. At your cutoff, everyone moves, even if Next is the next thing they do.</a:t>
            </a:r>
          </a:p>
        </p:txBody>
      </p:sp>
      <p:sp>
        <p:nvSpPr>
          <p:cNvPr id="12" name="Rectangle 11"/>
          <p:cNvSpPr/>
          <p:nvPr/>
        </p:nvSpPr>
        <p:spPr>
          <a:xfrm>
            <a:off x="384048" y="4434840"/>
            <a:ext cx="640080" cy="34747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489703"/>
            <a:ext cx="548640" cy="256032"/>
          </a:xfrm>
          <a:prstGeom prst="rect">
            <a:avLst/>
          </a:prstGeom>
          <a:noFill/>
        </p:spPr>
        <p:txBody>
          <a:bodyPr wrap="square" lIns="0" rIns="0" tIns="0" bIns="0"/>
          <a:lstStyle/>
          <a:p>
            <a:pPr algn="l">
              <a:lnSpc>
                <a:spcPct val="105000"/>
              </a:lnSpc>
              <a:spcBef>
                <a:spcPts val="0"/>
              </a:spcBef>
              <a:spcAft>
                <a:spcPts val="200"/>
              </a:spcAft>
            </a:pPr>
            <a:r>
              <a:rPr sz="1300" b="1">
                <a:solidFill>
                  <a:srgbClr val="FFFFFF"/>
                </a:solidFill>
                <a:latin typeface="Calibri"/>
                <a:ea typeface="Calibri"/>
                <a:cs typeface="Calibri"/>
              </a:rPr>
              <a:t>Phase</a:t>
            </a:r>
          </a:p>
        </p:txBody>
      </p:sp>
      <p:sp>
        <p:nvSpPr>
          <p:cNvPr id="14" name="Rectangle 13"/>
          <p:cNvSpPr/>
          <p:nvPr/>
        </p:nvSpPr>
        <p:spPr>
          <a:xfrm>
            <a:off x="1024127" y="4434840"/>
            <a:ext cx="2103120" cy="34747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489703"/>
            <a:ext cx="2011679" cy="256032"/>
          </a:xfrm>
          <a:prstGeom prst="rect">
            <a:avLst/>
          </a:prstGeom>
          <a:noFill/>
        </p:spPr>
        <p:txBody>
          <a:bodyPr wrap="square" lIns="0" rIns="0" tIns="0" bIns="0"/>
          <a:lstStyle/>
          <a:p>
            <a:pPr algn="l">
              <a:lnSpc>
                <a:spcPct val="105000"/>
              </a:lnSpc>
              <a:spcBef>
                <a:spcPts val="0"/>
              </a:spcBef>
              <a:spcAft>
                <a:spcPts val="200"/>
              </a:spcAft>
            </a:pPr>
            <a:r>
              <a:rPr sz="1300" b="1">
                <a:solidFill>
                  <a:srgbClr val="FFFFFF"/>
                </a:solidFill>
                <a:latin typeface="Calibri"/>
                <a:ea typeface="Calibri"/>
                <a:cs typeface="Calibri"/>
              </a:rPr>
              <a:t>On screen</a:t>
            </a:r>
          </a:p>
        </p:txBody>
      </p:sp>
      <p:sp>
        <p:nvSpPr>
          <p:cNvPr id="16" name="Rectangle 15"/>
          <p:cNvSpPr/>
          <p:nvPr/>
        </p:nvSpPr>
        <p:spPr>
          <a:xfrm>
            <a:off x="3127248" y="4434840"/>
            <a:ext cx="1371600" cy="34747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4489703"/>
            <a:ext cx="1280160" cy="256032"/>
          </a:xfrm>
          <a:prstGeom prst="rect">
            <a:avLst/>
          </a:prstGeom>
          <a:noFill/>
        </p:spPr>
        <p:txBody>
          <a:bodyPr wrap="square" lIns="0" rIns="0" tIns="0" bIns="0"/>
          <a:lstStyle/>
          <a:p>
            <a:pPr algn="l">
              <a:lnSpc>
                <a:spcPct val="105000"/>
              </a:lnSpc>
              <a:spcBef>
                <a:spcPts val="0"/>
              </a:spcBef>
              <a:spcAft>
                <a:spcPts val="200"/>
              </a:spcAft>
            </a:pPr>
            <a:r>
              <a:rPr sz="1300" b="1">
                <a:solidFill>
                  <a:srgbClr val="FFFFFF"/>
                </a:solidFill>
                <a:latin typeface="Calibri"/>
                <a:ea typeface="Calibri"/>
                <a:cs typeface="Calibri"/>
              </a:rPr>
              <a:t>Their timer</a:t>
            </a:r>
          </a:p>
        </p:txBody>
      </p:sp>
      <p:sp>
        <p:nvSpPr>
          <p:cNvPr id="18" name="Rectangle 17"/>
          <p:cNvSpPr/>
          <p:nvPr/>
        </p:nvSpPr>
        <p:spPr>
          <a:xfrm>
            <a:off x="4498848" y="4434840"/>
            <a:ext cx="2651760" cy="34747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489703"/>
            <a:ext cx="2560320" cy="256032"/>
          </a:xfrm>
          <a:prstGeom prst="rect">
            <a:avLst/>
          </a:prstGeom>
          <a:noFill/>
        </p:spPr>
        <p:txBody>
          <a:bodyPr wrap="square" lIns="0" rIns="0" tIns="0" bIns="0"/>
          <a:lstStyle/>
          <a:p>
            <a:pPr algn="l">
              <a:lnSpc>
                <a:spcPct val="105000"/>
              </a:lnSpc>
              <a:spcBef>
                <a:spcPts val="0"/>
              </a:spcBef>
              <a:spcAft>
                <a:spcPts val="200"/>
              </a:spcAft>
            </a:pPr>
            <a:r>
              <a:rPr sz="1300" b="1">
                <a:solidFill>
                  <a:srgbClr val="FFFFFF"/>
                </a:solidFill>
                <a:latin typeface="Calibri"/>
                <a:ea typeface="Calibri"/>
                <a:cs typeface="Calibri"/>
              </a:rPr>
              <a:t>Your cutoff</a:t>
            </a:r>
          </a:p>
        </p:txBody>
      </p:sp>
      <p:sp>
        <p:nvSpPr>
          <p:cNvPr id="20" name="TextBox 19"/>
          <p:cNvSpPr txBox="1"/>
          <p:nvPr/>
        </p:nvSpPr>
        <p:spPr>
          <a:xfrm>
            <a:off x="457200" y="4837175"/>
            <a:ext cx="548640" cy="256032"/>
          </a:xfrm>
          <a:prstGeom prst="rect">
            <a:avLst/>
          </a:prstGeom>
          <a:noFill/>
        </p:spPr>
        <p:txBody>
          <a:bodyPr wrap="square" lIns="0" rIns="0" tIns="0" bIns="0"/>
          <a:lstStyle/>
          <a:p>
            <a:pPr algn="l">
              <a:lnSpc>
                <a:spcPct val="105000"/>
              </a:lnSpc>
              <a:spcBef>
                <a:spcPts val="0"/>
              </a:spcBef>
              <a:spcAft>
                <a:spcPts val="200"/>
              </a:spcAft>
            </a:pPr>
            <a:r>
              <a:rPr sz="1300" b="1">
                <a:solidFill>
                  <a:srgbClr val="1A1A1A"/>
                </a:solidFill>
                <a:latin typeface="Calibri"/>
                <a:ea typeface="Calibri"/>
                <a:cs typeface="Calibri"/>
              </a:rPr>
              <a:t>0</a:t>
            </a:r>
          </a:p>
        </p:txBody>
      </p:sp>
      <p:sp>
        <p:nvSpPr>
          <p:cNvPr id="21" name="TextBox 20"/>
          <p:cNvSpPr txBox="1"/>
          <p:nvPr/>
        </p:nvSpPr>
        <p:spPr>
          <a:xfrm>
            <a:off x="1097280" y="4837175"/>
            <a:ext cx="2011679"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Painpoint</a:t>
            </a:r>
          </a:p>
        </p:txBody>
      </p:sp>
      <p:sp>
        <p:nvSpPr>
          <p:cNvPr id="22" name="TextBox 21"/>
          <p:cNvSpPr txBox="1"/>
          <p:nvPr/>
        </p:nvSpPr>
        <p:spPr>
          <a:xfrm>
            <a:off x="3200400" y="4837175"/>
            <a:ext cx="128016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5:00</a:t>
            </a:r>
          </a:p>
        </p:txBody>
      </p:sp>
      <p:sp>
        <p:nvSpPr>
          <p:cNvPr id="23" name="TextBox 22"/>
          <p:cNvSpPr txBox="1"/>
          <p:nvPr/>
        </p:nvSpPr>
        <p:spPr>
          <a:xfrm>
            <a:off x="4572000" y="4837175"/>
            <a:ext cx="2560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Minute 0 to 5</a:t>
            </a:r>
          </a:p>
        </p:txBody>
      </p:sp>
      <p:sp>
        <p:nvSpPr>
          <p:cNvPr id="24" name="Rectangle 23"/>
          <p:cNvSpPr/>
          <p:nvPr/>
        </p:nvSpPr>
        <p:spPr>
          <a:xfrm>
            <a:off x="384048" y="5129783"/>
            <a:ext cx="640080"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184647"/>
            <a:ext cx="548640" cy="256032"/>
          </a:xfrm>
          <a:prstGeom prst="rect">
            <a:avLst/>
          </a:prstGeom>
          <a:noFill/>
        </p:spPr>
        <p:txBody>
          <a:bodyPr wrap="square" lIns="0" rIns="0" tIns="0" bIns="0"/>
          <a:lstStyle/>
          <a:p>
            <a:pPr algn="l">
              <a:lnSpc>
                <a:spcPct val="105000"/>
              </a:lnSpc>
              <a:spcBef>
                <a:spcPts val="0"/>
              </a:spcBef>
              <a:spcAft>
                <a:spcPts val="200"/>
              </a:spcAft>
            </a:pPr>
            <a:r>
              <a:rPr sz="1300" b="1">
                <a:solidFill>
                  <a:srgbClr val="1A1A1A"/>
                </a:solidFill>
                <a:latin typeface="Calibri"/>
                <a:ea typeface="Calibri"/>
                <a:cs typeface="Calibri"/>
              </a:rPr>
              <a:t>1</a:t>
            </a:r>
          </a:p>
        </p:txBody>
      </p:sp>
      <p:sp>
        <p:nvSpPr>
          <p:cNvPr id="26" name="Rectangle 25"/>
          <p:cNvSpPr/>
          <p:nvPr/>
        </p:nvSpPr>
        <p:spPr>
          <a:xfrm>
            <a:off x="1024127" y="5129783"/>
            <a:ext cx="2103120"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184647"/>
            <a:ext cx="2011679"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Idea brief</a:t>
            </a:r>
          </a:p>
        </p:txBody>
      </p:sp>
      <p:sp>
        <p:nvSpPr>
          <p:cNvPr id="28" name="Rectangle 27"/>
          <p:cNvSpPr/>
          <p:nvPr/>
        </p:nvSpPr>
        <p:spPr>
          <a:xfrm>
            <a:off x="3127248" y="5129783"/>
            <a:ext cx="1371600"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0" y="5184647"/>
            <a:ext cx="128016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5:00</a:t>
            </a:r>
          </a:p>
        </p:txBody>
      </p:sp>
      <p:sp>
        <p:nvSpPr>
          <p:cNvPr id="30" name="Rectangle 29"/>
          <p:cNvSpPr/>
          <p:nvPr/>
        </p:nvSpPr>
        <p:spPr>
          <a:xfrm>
            <a:off x="4498848" y="5129783"/>
            <a:ext cx="2651760"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0" y="5184647"/>
            <a:ext cx="2560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Minute 5 to 10</a:t>
            </a:r>
          </a:p>
        </p:txBody>
      </p:sp>
      <p:sp>
        <p:nvSpPr>
          <p:cNvPr id="32" name="TextBox 31"/>
          <p:cNvSpPr txBox="1"/>
          <p:nvPr/>
        </p:nvSpPr>
        <p:spPr>
          <a:xfrm>
            <a:off x="457200" y="5532120"/>
            <a:ext cx="548640" cy="256032"/>
          </a:xfrm>
          <a:prstGeom prst="rect">
            <a:avLst/>
          </a:prstGeom>
          <a:noFill/>
        </p:spPr>
        <p:txBody>
          <a:bodyPr wrap="square" lIns="0" rIns="0" tIns="0" bIns="0"/>
          <a:lstStyle/>
          <a:p>
            <a:pPr algn="l">
              <a:lnSpc>
                <a:spcPct val="105000"/>
              </a:lnSpc>
              <a:spcBef>
                <a:spcPts val="0"/>
              </a:spcBef>
              <a:spcAft>
                <a:spcPts val="200"/>
              </a:spcAft>
            </a:pPr>
            <a:r>
              <a:rPr sz="1300" b="1">
                <a:solidFill>
                  <a:srgbClr val="1A1A1A"/>
                </a:solidFill>
                <a:latin typeface="Calibri"/>
                <a:ea typeface="Calibri"/>
                <a:cs typeface="Calibri"/>
              </a:rPr>
              <a:t>2</a:t>
            </a:r>
          </a:p>
        </p:txBody>
      </p:sp>
      <p:sp>
        <p:nvSpPr>
          <p:cNvPr id="33" name="TextBox 32"/>
          <p:cNvSpPr txBox="1"/>
          <p:nvPr/>
        </p:nvSpPr>
        <p:spPr>
          <a:xfrm>
            <a:off x="1097280" y="5532120"/>
            <a:ext cx="2011679"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Design 3 screens</a:t>
            </a:r>
          </a:p>
        </p:txBody>
      </p:sp>
      <p:sp>
        <p:nvSpPr>
          <p:cNvPr id="34" name="TextBox 33"/>
          <p:cNvSpPr txBox="1"/>
          <p:nvPr/>
        </p:nvSpPr>
        <p:spPr>
          <a:xfrm>
            <a:off x="3200400" y="5532120"/>
            <a:ext cx="128016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8:00</a:t>
            </a:r>
          </a:p>
        </p:txBody>
      </p:sp>
      <p:sp>
        <p:nvSpPr>
          <p:cNvPr id="35" name="TextBox 34"/>
          <p:cNvSpPr txBox="1"/>
          <p:nvPr/>
        </p:nvSpPr>
        <p:spPr>
          <a:xfrm>
            <a:off x="4572000" y="5532120"/>
            <a:ext cx="2560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Minute 10 to 18</a:t>
            </a:r>
          </a:p>
        </p:txBody>
      </p:sp>
      <p:sp>
        <p:nvSpPr>
          <p:cNvPr id="36" name="Rectangle 35"/>
          <p:cNvSpPr/>
          <p:nvPr/>
        </p:nvSpPr>
        <p:spPr>
          <a:xfrm>
            <a:off x="384048" y="5824727"/>
            <a:ext cx="640080"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879591"/>
            <a:ext cx="548640" cy="256032"/>
          </a:xfrm>
          <a:prstGeom prst="rect">
            <a:avLst/>
          </a:prstGeom>
          <a:noFill/>
        </p:spPr>
        <p:txBody>
          <a:bodyPr wrap="square" lIns="0" rIns="0" tIns="0" bIns="0"/>
          <a:lstStyle/>
          <a:p>
            <a:pPr algn="l">
              <a:lnSpc>
                <a:spcPct val="105000"/>
              </a:lnSpc>
              <a:spcBef>
                <a:spcPts val="0"/>
              </a:spcBef>
              <a:spcAft>
                <a:spcPts val="200"/>
              </a:spcAft>
            </a:pPr>
            <a:r>
              <a:rPr sz="1300" b="1">
                <a:solidFill>
                  <a:srgbClr val="1A1A1A"/>
                </a:solidFill>
                <a:latin typeface="Calibri"/>
                <a:ea typeface="Calibri"/>
                <a:cs typeface="Calibri"/>
              </a:rPr>
              <a:t>3</a:t>
            </a:r>
          </a:p>
        </p:txBody>
      </p:sp>
      <p:sp>
        <p:nvSpPr>
          <p:cNvPr id="38" name="Rectangle 37"/>
          <p:cNvSpPr/>
          <p:nvPr/>
        </p:nvSpPr>
        <p:spPr>
          <a:xfrm>
            <a:off x="1024127" y="5824727"/>
            <a:ext cx="2103120"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879591"/>
            <a:ext cx="2011679"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Demo</a:t>
            </a:r>
          </a:p>
        </p:txBody>
      </p:sp>
      <p:sp>
        <p:nvSpPr>
          <p:cNvPr id="40" name="Rectangle 39"/>
          <p:cNvSpPr/>
          <p:nvPr/>
        </p:nvSpPr>
        <p:spPr>
          <a:xfrm>
            <a:off x="3127248" y="5824727"/>
            <a:ext cx="1371600"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0" y="5879591"/>
            <a:ext cx="128016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12:00</a:t>
            </a:r>
          </a:p>
        </p:txBody>
      </p:sp>
      <p:sp>
        <p:nvSpPr>
          <p:cNvPr id="42" name="Rectangle 41"/>
          <p:cNvSpPr/>
          <p:nvPr/>
        </p:nvSpPr>
        <p:spPr>
          <a:xfrm>
            <a:off x="4498848" y="5824727"/>
            <a:ext cx="2651760"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0" y="5879591"/>
            <a:ext cx="2560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Minute 18 to 30</a:t>
            </a:r>
          </a:p>
        </p:txBody>
      </p:sp>
      <p:sp>
        <p:nvSpPr>
          <p:cNvPr id="44" name="TextBox 43"/>
          <p:cNvSpPr txBox="1"/>
          <p:nvPr/>
        </p:nvSpPr>
        <p:spPr>
          <a:xfrm>
            <a:off x="384048" y="6355080"/>
            <a:ext cx="6784848" cy="292608"/>
          </a:xfrm>
          <a:prstGeom prst="rect">
            <a:avLst/>
          </a:prstGeom>
          <a:noFill/>
        </p:spPr>
        <p:txBody>
          <a:bodyPr wrap="square" lIns="0" rIns="0" tIns="0" bIns="0"/>
          <a:lstStyle/>
          <a:p>
            <a:pPr algn="l">
              <a:lnSpc>
                <a:spcPct val="105000"/>
              </a:lnSpc>
              <a:spcBef>
                <a:spcPts val="0"/>
              </a:spcBef>
              <a:spcAft>
                <a:spcPts val="200"/>
              </a:spcAft>
            </a:pPr>
            <a:r>
              <a:rPr sz="1600" b="1">
                <a:solidFill>
                  <a:srgbClr val="1A1A1A"/>
                </a:solidFill>
                <a:latin typeface="Calibri"/>
                <a:ea typeface="Calibri"/>
                <a:cs typeface="Calibri"/>
              </a:rPr>
              <a:t>The hour around the thirty minutes</a:t>
            </a:r>
          </a:p>
        </p:txBody>
      </p:sp>
      <p:sp>
        <p:nvSpPr>
          <p:cNvPr id="45" name="TextBox 44"/>
          <p:cNvSpPr txBox="1"/>
          <p:nvPr/>
        </p:nvSpPr>
        <p:spPr>
          <a:xfrm>
            <a:off x="384048" y="6720840"/>
            <a:ext cx="1051560" cy="329184"/>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3 min</a:t>
            </a:r>
          </a:p>
        </p:txBody>
      </p:sp>
      <p:sp>
        <p:nvSpPr>
          <p:cNvPr id="46" name="TextBox 45"/>
          <p:cNvSpPr txBox="1"/>
          <p:nvPr/>
        </p:nvSpPr>
        <p:spPr>
          <a:xfrm>
            <a:off x="1463040" y="6720840"/>
            <a:ext cx="5669280" cy="36576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Cover stays up. Nominate the leader. Say what the hour is for.</a:t>
            </a:r>
          </a:p>
        </p:txBody>
      </p:sp>
      <p:sp>
        <p:nvSpPr>
          <p:cNvPr id="47" name="TextBox 46"/>
          <p:cNvSpPr txBox="1"/>
          <p:nvPr/>
        </p:nvSpPr>
        <p:spPr>
          <a:xfrm>
            <a:off x="384048" y="7068312"/>
            <a:ext cx="1051560" cy="329184"/>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6 min</a:t>
            </a:r>
          </a:p>
        </p:txBody>
      </p:sp>
      <p:sp>
        <p:nvSpPr>
          <p:cNvPr id="48" name="TextBox 47"/>
          <p:cNvSpPr txBox="1"/>
          <p:nvPr/>
        </p:nvSpPr>
        <p:spPr>
          <a:xfrm>
            <a:off x="1463040" y="7068312"/>
            <a:ext cx="5669280" cy="36576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You demo the clicks. Do not invent their pain for them.</a:t>
            </a:r>
          </a:p>
        </p:txBody>
      </p:sp>
      <p:sp>
        <p:nvSpPr>
          <p:cNvPr id="49" name="TextBox 48"/>
          <p:cNvSpPr txBox="1"/>
          <p:nvPr/>
        </p:nvSpPr>
        <p:spPr>
          <a:xfrm>
            <a:off x="384048" y="7415783"/>
            <a:ext cx="1051560" cy="329184"/>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30 min</a:t>
            </a:r>
          </a:p>
        </p:txBody>
      </p:sp>
      <p:sp>
        <p:nvSpPr>
          <p:cNvPr id="50" name="TextBox 49"/>
          <p:cNvSpPr txBox="1"/>
          <p:nvPr/>
        </p:nvSpPr>
        <p:spPr>
          <a:xfrm>
            <a:off x="1463040" y="7415783"/>
            <a:ext cx="5669280" cy="36576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They make. You walk. You call the four cutoffs.</a:t>
            </a:r>
          </a:p>
        </p:txBody>
      </p:sp>
      <p:sp>
        <p:nvSpPr>
          <p:cNvPr id="51" name="TextBox 50"/>
          <p:cNvSpPr txBox="1"/>
          <p:nvPr/>
        </p:nvSpPr>
        <p:spPr>
          <a:xfrm>
            <a:off x="384048" y="7763256"/>
            <a:ext cx="1051560" cy="329184"/>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2 min</a:t>
            </a:r>
          </a:p>
        </p:txBody>
      </p:sp>
      <p:sp>
        <p:nvSpPr>
          <p:cNvPr id="52" name="TextBox 51"/>
          <p:cNvSpPr txBox="1"/>
          <p:nvPr/>
        </p:nvSpPr>
        <p:spPr>
          <a:xfrm>
            <a:off x="1463040" y="7763256"/>
            <a:ext cx="5669280" cy="36576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Everyone opens Present on Screen 1.</a:t>
            </a:r>
          </a:p>
        </p:txBody>
      </p:sp>
      <p:sp>
        <p:nvSpPr>
          <p:cNvPr id="53" name="TextBox 52"/>
          <p:cNvSpPr txBox="1"/>
          <p:nvPr/>
        </p:nvSpPr>
        <p:spPr>
          <a:xfrm>
            <a:off x="384048" y="8110728"/>
            <a:ext cx="1051560" cy="329184"/>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15 min</a:t>
            </a:r>
          </a:p>
        </p:txBody>
      </p:sp>
      <p:sp>
        <p:nvSpPr>
          <p:cNvPr id="54" name="TextBox 53"/>
          <p:cNvSpPr txBox="1"/>
          <p:nvPr/>
        </p:nvSpPr>
        <p:spPr>
          <a:xfrm>
            <a:off x="1463040" y="8110728"/>
            <a:ext cx="5669280" cy="36576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Ten groups, ninety seconds. You keep time. No critique in between.</a:t>
            </a:r>
          </a:p>
        </p:txBody>
      </p:sp>
      <p:sp>
        <p:nvSpPr>
          <p:cNvPr id="55" name="TextBox 54"/>
          <p:cNvSpPr txBox="1"/>
          <p:nvPr/>
        </p:nvSpPr>
        <p:spPr>
          <a:xfrm>
            <a:off x="384048" y="8458200"/>
            <a:ext cx="1051560" cy="329184"/>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3 min</a:t>
            </a:r>
          </a:p>
        </p:txBody>
      </p:sp>
      <p:sp>
        <p:nvSpPr>
          <p:cNvPr id="56" name="TextBox 55"/>
          <p:cNvSpPr txBox="1"/>
          <p:nvPr/>
        </p:nvSpPr>
        <p:spPr>
          <a:xfrm>
            <a:off x="1463040" y="8458200"/>
            <a:ext cx="5669280" cy="36576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Read the tally. Name the pains that came up. Stop.</a:t>
            </a:r>
          </a:p>
        </p:txBody>
      </p:sp>
      <p:sp>
        <p:nvSpPr>
          <p:cNvPr id="57" name="TextBox 56"/>
          <p:cNvSpPr txBox="1"/>
          <p:nvPr/>
        </p:nvSpPr>
        <p:spPr>
          <a:xfrm>
            <a:off x="384048" y="8915400"/>
            <a:ext cx="6784848" cy="1188720"/>
          </a:xfrm>
          <a:prstGeom prst="rect">
            <a:avLst/>
          </a:prstGeom>
          <a:noFill/>
        </p:spPr>
        <p:txBody>
          <a:bodyPr wrap="square" lIns="0" rIns="0" tIns="0" bIns="0"/>
          <a:lstStyle/>
          <a:p>
            <a:pPr algn="l">
              <a:lnSpc>
                <a:spcPct val="105000"/>
              </a:lnSpc>
              <a:spcBef>
                <a:spcPts val="0"/>
              </a:spcBef>
              <a:spcAft>
                <a:spcPts val="400"/>
              </a:spcAft>
            </a:pPr>
            <a:r>
              <a:rPr sz="1600" b="1">
                <a:solidFill>
                  <a:srgbClr val="1A1A1A"/>
                </a:solidFill>
                <a:latin typeface="Calibri"/>
                <a:ea typeface="Calibri"/>
                <a:cs typeface="Calibri"/>
              </a:rPr>
              <a:t>If the slot is 45 minutes</a:t>
            </a:r>
          </a:p>
          <a:p>
            <a:pPr algn="l">
              <a:lnSpc>
                <a:spcPct val="105000"/>
              </a:lnSpc>
              <a:spcBef>
                <a:spcPts val="0"/>
              </a:spcBef>
              <a:spcAft>
                <a:spcPts val="200"/>
              </a:spcAft>
            </a:pPr>
            <a:r>
              <a:rPr sz="1300" b="0">
                <a:solidFill>
                  <a:srgbClr val="4A4A4A"/>
                </a:solidFill>
                <a:latin typeface="Calibri"/>
                <a:ea typeface="Calibri"/>
                <a:cs typeface="Calibri"/>
              </a:rPr>
              <a:t>Cut the demo to four minutes and use the example you already built. Keep the thirty minutes of making. Hear two groups in full, then ask every other group for only the painpoint and the agent name. Collect the rest of the tally from the screens as you walk. Do not shrink the making time to fit more presentations.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1068933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256032"/>
            <a:ext cx="5120640" cy="256032"/>
          </a:xfrm>
          <a:prstGeom prst="rect">
            <a:avLst/>
          </a:prstGeom>
          <a:noFill/>
        </p:spPr>
        <p:txBody>
          <a:bodyPr wrap="square" lIns="0" rIns="0" tIns="0" bIns="0"/>
          <a:lstStyle/>
          <a:p>
            <a:pPr algn="l">
              <a:lnSpc>
                <a:spcPct val="105000"/>
              </a:lnSpc>
              <a:spcBef>
                <a:spcPts val="0"/>
              </a:spcBef>
              <a:spcAft>
                <a:spcPts val="200"/>
              </a:spcAft>
            </a:pPr>
            <a:r>
              <a:rPr sz="1100" b="1">
                <a:solidFill>
                  <a:srgbClr val="DB0011"/>
                </a:solidFill>
                <a:latin typeface="Calibri"/>
                <a:ea typeface="Calibri"/>
                <a:cs typeface="Calibri"/>
              </a:rPr>
              <a:t>WEALTH SYMPOSIUM  ·  FACILITATOR GUIDE</a:t>
            </a:r>
          </a:p>
        </p:txBody>
      </p:sp>
      <p:sp>
        <p:nvSpPr>
          <p:cNvPr id="5" name="TextBox 4"/>
          <p:cNvSpPr txBox="1"/>
          <p:nvPr/>
        </p:nvSpPr>
        <p:spPr>
          <a:xfrm>
            <a:off x="5029200" y="256032"/>
            <a:ext cx="2148840" cy="256032"/>
          </a:xfrm>
          <a:prstGeom prst="rect">
            <a:avLst/>
          </a:prstGeom>
          <a:noFill/>
        </p:spPr>
        <p:txBody>
          <a:bodyPr wrap="square" lIns="0" rIns="0" tIns="0" bIns="0"/>
          <a:lstStyle/>
          <a:p>
            <a:pPr algn="r">
              <a:lnSpc>
                <a:spcPct val="105000"/>
              </a:lnSpc>
              <a:spcBef>
                <a:spcPts val="0"/>
              </a:spcBef>
              <a:spcAft>
                <a:spcPts val="200"/>
              </a:spcAft>
            </a:pPr>
            <a:r>
              <a:rPr sz="1100" b="0">
                <a:solidFill>
                  <a:srgbClr val="4A4A4A"/>
                </a:solidFill>
                <a:latin typeface="Calibri"/>
                <a:ea typeface="Calibri"/>
                <a:cs typeface="Calibri"/>
              </a:rPr>
              <a:t>03  Open and demo</a:t>
            </a:r>
          </a:p>
        </p:txBody>
      </p:sp>
      <p:sp>
        <p:nvSpPr>
          <p:cNvPr id="6" name="Rectangle 5"/>
          <p:cNvSpPr/>
          <p:nvPr/>
        </p:nvSpPr>
        <p:spPr>
          <a:xfrm>
            <a:off x="384048" y="566928"/>
            <a:ext cx="6784848" cy="13716"/>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0314432"/>
            <a:ext cx="6784848" cy="219456"/>
          </a:xfrm>
          <a:prstGeom prst="rect">
            <a:avLst/>
          </a:prstGeom>
          <a:noFill/>
        </p:spPr>
        <p:txBody>
          <a:bodyPr wrap="square" lIns="0" rIns="0" tIns="0" bIns="0"/>
          <a:lstStyle/>
          <a:p>
            <a:pPr algn="l">
              <a:lnSpc>
                <a:spcPct val="105000"/>
              </a:lnSpc>
              <a:spcBef>
                <a:spcPts val="0"/>
              </a:spcBef>
              <a:spcAft>
                <a:spcPts val="200"/>
              </a:spcAft>
            </a:pPr>
            <a:r>
              <a:rPr sz="1000" b="0">
                <a:solidFill>
                  <a:srgbClr val="4A4A4A"/>
                </a:solidFill>
                <a:latin typeface="Calibri"/>
                <a:ea typeface="Calibri"/>
                <a:cs typeface="Calibri"/>
              </a:rPr>
              <a:t>AI Powered, Human Led  ·  Do not hand this sheet to the groups</a:t>
            </a:r>
          </a:p>
        </p:txBody>
      </p:sp>
      <p:sp>
        <p:nvSpPr>
          <p:cNvPr id="8" name="TextBox 7"/>
          <p:cNvSpPr txBox="1"/>
          <p:nvPr/>
        </p:nvSpPr>
        <p:spPr>
          <a:xfrm>
            <a:off x="384048" y="713232"/>
            <a:ext cx="6784848" cy="384048"/>
          </a:xfrm>
          <a:prstGeom prst="rect">
            <a:avLst/>
          </a:prstGeom>
          <a:noFill/>
        </p:spPr>
        <p:txBody>
          <a:bodyPr wrap="square" lIns="0" rIns="0" tIns="0" bIns="0"/>
          <a:lstStyle/>
          <a:p>
            <a:pPr algn="l">
              <a:lnSpc>
                <a:spcPct val="105000"/>
              </a:lnSpc>
              <a:spcBef>
                <a:spcPts val="0"/>
              </a:spcBef>
              <a:spcAft>
                <a:spcPts val="200"/>
              </a:spcAft>
            </a:pPr>
            <a:r>
              <a:rPr sz="2600" b="1">
                <a:solidFill>
                  <a:srgbClr val="1A1A1A"/>
                </a:solidFill>
                <a:latin typeface="Calibri"/>
                <a:ea typeface="Calibri"/>
                <a:cs typeface="Calibri"/>
              </a:rPr>
              <a:t>Say less than you want to.</a:t>
            </a:r>
          </a:p>
        </p:txBody>
      </p:sp>
      <p:sp>
        <p:nvSpPr>
          <p:cNvPr id="9" name="TextBox 8"/>
          <p:cNvSpPr txBox="1"/>
          <p:nvPr/>
        </p:nvSpPr>
        <p:spPr>
          <a:xfrm>
            <a:off x="384048" y="1170432"/>
            <a:ext cx="6784848" cy="1965960"/>
          </a:xfrm>
          <a:prstGeom prst="rect">
            <a:avLst/>
          </a:prstGeom>
          <a:noFill/>
        </p:spPr>
        <p:txBody>
          <a:bodyPr wrap="square" lIns="0" rIns="0" tIns="0" bIns="0"/>
          <a:lstStyle/>
          <a:p>
            <a:pPr algn="l">
              <a:lnSpc>
                <a:spcPct val="105000"/>
              </a:lnSpc>
              <a:spcBef>
                <a:spcPts val="0"/>
              </a:spcBef>
              <a:spcAft>
                <a:spcPts val="600"/>
              </a:spcAft>
            </a:pPr>
            <a:r>
              <a:rPr sz="1600" b="1">
                <a:solidFill>
                  <a:srgbClr val="1A1A1A"/>
                </a:solidFill>
                <a:latin typeface="Calibri"/>
                <a:ea typeface="Calibri"/>
                <a:cs typeface="Calibri"/>
              </a:rPr>
              <a:t>Open, while they are still on the cover</a:t>
            </a:r>
          </a:p>
          <a:p>
            <a:pPr algn="l">
              <a:lnSpc>
                <a:spcPct val="105000"/>
              </a:lnSpc>
              <a:spcBef>
                <a:spcPts val="0"/>
              </a:spcBef>
              <a:spcAft>
                <a:spcPts val="800"/>
              </a:spcAft>
            </a:pPr>
            <a:r>
              <a:rPr sz="1400" b="0">
                <a:solidFill>
                  <a:srgbClr val="1A1A1A"/>
                </a:solidFill>
                <a:latin typeface="Calibri"/>
                <a:ea typeface="Calibri"/>
                <a:cs typeface="Calibri"/>
              </a:rPr>
              <a:t>“You are not here to learn a tool. You are here to design the assistant you wish you had beside you with a client. One person drives the laptop. The other four decide. Pick the pain that is actually painful, not the one that sounds impressive. At the end you have ninety seconds: the pain, the agent, the demo, and one benefit.”</a:t>
            </a:r>
          </a:p>
          <a:p>
            <a:pPr algn="l">
              <a:lnSpc>
                <a:spcPct val="105000"/>
              </a:lnSpc>
              <a:spcBef>
                <a:spcPts val="0"/>
              </a:spcBef>
              <a:spcAft>
                <a:spcPts val="200"/>
              </a:spcAft>
            </a:pPr>
            <a:r>
              <a:rPr sz="1400" b="0">
                <a:solidFill>
                  <a:srgbClr val="1A1A1A"/>
                </a:solidFill>
                <a:latin typeface="Calibri"/>
                <a:ea typeface="Calibri"/>
                <a:cs typeface="Calibri"/>
              </a:rPr>
              <a:t>Then point at the cover. “When I say go, the leader presses Start fresh. Not Resume. Resume is only if this laptop already started and died.”</a:t>
            </a:r>
          </a:p>
        </p:txBody>
      </p:sp>
      <p:sp>
        <p:nvSpPr>
          <p:cNvPr id="10" name="TextBox 9"/>
          <p:cNvSpPr txBox="1"/>
          <p:nvPr/>
        </p:nvSpPr>
        <p:spPr>
          <a:xfrm>
            <a:off x="384048" y="3246120"/>
            <a:ext cx="6784848" cy="292608"/>
          </a:xfrm>
          <a:prstGeom prst="rect">
            <a:avLst/>
          </a:prstGeom>
          <a:noFill/>
        </p:spPr>
        <p:txBody>
          <a:bodyPr wrap="square" lIns="0" rIns="0" tIns="0" bIns="0"/>
          <a:lstStyle/>
          <a:p>
            <a:pPr algn="l">
              <a:lnSpc>
                <a:spcPct val="105000"/>
              </a:lnSpc>
              <a:spcBef>
                <a:spcPts val="0"/>
              </a:spcBef>
              <a:spcAft>
                <a:spcPts val="200"/>
              </a:spcAft>
            </a:pPr>
            <a:r>
              <a:rPr sz="1600" b="1">
                <a:solidFill>
                  <a:srgbClr val="1A1A1A"/>
                </a:solidFill>
                <a:latin typeface="Calibri"/>
                <a:ea typeface="Calibri"/>
                <a:cs typeface="Calibri"/>
              </a:rPr>
              <a:t>The live demo, on your laptop only</a:t>
            </a:r>
          </a:p>
        </p:txBody>
      </p:sp>
      <p:sp>
        <p:nvSpPr>
          <p:cNvPr id="11" name="TextBox 10"/>
          <p:cNvSpPr txBox="1"/>
          <p:nvPr/>
        </p:nvSpPr>
        <p:spPr>
          <a:xfrm>
            <a:off x="384048" y="3611880"/>
            <a:ext cx="6784848" cy="502920"/>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Walk the clicks. Do not workshop the content. Use a pain you are willing to throw away. Tell them that. If a generation spinner sits there, talk over it once, then switch to the example you rehearsed.</a:t>
            </a:r>
          </a:p>
        </p:txBody>
      </p:sp>
      <p:sp>
        <p:nvSpPr>
          <p:cNvPr id="12" name="Rectangle 11"/>
          <p:cNvSpPr/>
          <p:nvPr/>
        </p:nvSpPr>
        <p:spPr>
          <a:xfrm>
            <a:off x="384048" y="4206240"/>
            <a:ext cx="1234440" cy="777240"/>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407407"/>
            <a:ext cx="1097280" cy="411480"/>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Cover</a:t>
            </a:r>
          </a:p>
        </p:txBody>
      </p:sp>
      <p:sp>
        <p:nvSpPr>
          <p:cNvPr id="14" name="TextBox 13"/>
          <p:cNvSpPr txBox="1"/>
          <p:nvPr/>
        </p:nvSpPr>
        <p:spPr>
          <a:xfrm>
            <a:off x="1737360" y="4279392"/>
            <a:ext cx="5394960" cy="68580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Show Start fresh and Resume. Say which one they will press.</a:t>
            </a:r>
          </a:p>
        </p:txBody>
      </p:sp>
      <p:sp>
        <p:nvSpPr>
          <p:cNvPr id="15" name="Rectangle 14"/>
          <p:cNvSpPr/>
          <p:nvPr/>
        </p:nvSpPr>
        <p:spPr>
          <a:xfrm>
            <a:off x="384048" y="5074920"/>
            <a:ext cx="1234440" cy="777240"/>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5276088"/>
            <a:ext cx="1097280" cy="411480"/>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Phase 0</a:t>
            </a:r>
          </a:p>
        </p:txBody>
      </p:sp>
      <p:sp>
        <p:nvSpPr>
          <p:cNvPr id="17" name="TextBox 16"/>
          <p:cNvSpPr txBox="1"/>
          <p:nvPr/>
        </p:nvSpPr>
        <p:spPr>
          <a:xfrm>
            <a:off x="1737360" y="5148072"/>
            <a:ext cx="5394960" cy="68580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Click one card. Read the title, not the whole paragraph. Press Next.</a:t>
            </a:r>
          </a:p>
        </p:txBody>
      </p:sp>
      <p:sp>
        <p:nvSpPr>
          <p:cNvPr id="18" name="Rectangle 17"/>
          <p:cNvSpPr/>
          <p:nvPr/>
        </p:nvSpPr>
        <p:spPr>
          <a:xfrm>
            <a:off x="384048" y="5943600"/>
            <a:ext cx="1234440" cy="777240"/>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144768"/>
            <a:ext cx="1097280" cy="411480"/>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Phase 1</a:t>
            </a:r>
          </a:p>
        </p:txBody>
      </p:sp>
      <p:sp>
        <p:nvSpPr>
          <p:cNvPr id="20" name="TextBox 19"/>
          <p:cNvSpPr txBox="1"/>
          <p:nvPr/>
        </p:nvSpPr>
        <p:spPr>
          <a:xfrm>
            <a:off x="1737360" y="6016752"/>
            <a:ext cx="5394960" cy="68580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The pain stays locked at the top. Click a box and type. Show that a suggestion does nothing until Accept.</a:t>
            </a:r>
          </a:p>
        </p:txBody>
      </p:sp>
      <p:sp>
        <p:nvSpPr>
          <p:cNvPr id="21" name="Rectangle 20"/>
          <p:cNvSpPr/>
          <p:nvPr/>
        </p:nvSpPr>
        <p:spPr>
          <a:xfrm>
            <a:off x="384048" y="6812280"/>
            <a:ext cx="1234440" cy="777240"/>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7013448"/>
            <a:ext cx="1097280" cy="411480"/>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Phase 2</a:t>
            </a:r>
          </a:p>
        </p:txBody>
      </p:sp>
      <p:sp>
        <p:nvSpPr>
          <p:cNvPr id="23" name="TextBox 22"/>
          <p:cNvSpPr txBox="1"/>
          <p:nvPr/>
        </p:nvSpPr>
        <p:spPr>
          <a:xfrm>
            <a:off x="1737360" y="6885432"/>
            <a:ext cx="5394960" cy="68580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Three prompts, in order. Generate screen sits on the picture. Edit the words after, and that picture is out of date until you generate it again.</a:t>
            </a:r>
          </a:p>
        </p:txBody>
      </p:sp>
      <p:sp>
        <p:nvSpPr>
          <p:cNvPr id="24" name="Rectangle 23"/>
          <p:cNvSpPr/>
          <p:nvPr/>
        </p:nvSpPr>
        <p:spPr>
          <a:xfrm>
            <a:off x="384048" y="7680960"/>
            <a:ext cx="1234440" cy="777240"/>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7882128"/>
            <a:ext cx="1097280" cy="411480"/>
          </a:xfrm>
          <a:prstGeom prst="rect">
            <a:avLst/>
          </a:prstGeom>
          <a:noFill/>
        </p:spPr>
        <p:txBody>
          <a:bodyPr wrap="square" lIns="0" rIns="0" tIns="0" bIns="0"/>
          <a:lstStyle/>
          <a:p>
            <a:pPr algn="l">
              <a:lnSpc>
                <a:spcPct val="105000"/>
              </a:lnSpc>
              <a:spcBef>
                <a:spcPts val="0"/>
              </a:spcBef>
              <a:spcAft>
                <a:spcPts val="200"/>
              </a:spcAft>
            </a:pPr>
            <a:r>
              <a:rPr sz="1300" b="1">
                <a:solidFill>
                  <a:srgbClr val="DB0011"/>
                </a:solidFill>
                <a:latin typeface="Calibri"/>
                <a:ea typeface="Calibri"/>
                <a:cs typeface="Calibri"/>
              </a:rPr>
              <a:t>Phase 3</a:t>
            </a:r>
          </a:p>
        </p:txBody>
      </p:sp>
      <p:sp>
        <p:nvSpPr>
          <p:cNvPr id="26" name="TextBox 25"/>
          <p:cNvSpPr txBox="1"/>
          <p:nvPr/>
        </p:nvSpPr>
        <p:spPr>
          <a:xfrm>
            <a:off x="1737360" y="7754112"/>
            <a:ext cx="5394960" cy="685800"/>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Generate the demo. It writes one screen, then the next. Show Present, and the four things they will say.</a:t>
            </a:r>
          </a:p>
        </p:txBody>
      </p:sp>
      <p:sp>
        <p:nvSpPr>
          <p:cNvPr id="27" name="TextBox 26"/>
          <p:cNvSpPr txBox="1"/>
          <p:nvPr/>
        </p:nvSpPr>
        <p:spPr>
          <a:xfrm>
            <a:off x="384048" y="8686800"/>
            <a:ext cx="6784848" cy="1371600"/>
          </a:xfrm>
          <a:prstGeom prst="rect">
            <a:avLst/>
          </a:prstGeom>
          <a:noFill/>
        </p:spPr>
        <p:txBody>
          <a:bodyPr wrap="square" lIns="0" rIns="0" tIns="0" bIns="0"/>
          <a:lstStyle/>
          <a:p>
            <a:pPr algn="l">
              <a:lnSpc>
                <a:spcPct val="105000"/>
              </a:lnSpc>
              <a:spcBef>
                <a:spcPts val="0"/>
              </a:spcBef>
              <a:spcAft>
                <a:spcPts val="400"/>
              </a:spcAft>
            </a:pPr>
            <a:r>
              <a:rPr sz="1600" b="1">
                <a:solidFill>
                  <a:srgbClr val="1A1A1A"/>
                </a:solidFill>
                <a:latin typeface="Calibri"/>
                <a:ea typeface="Calibri"/>
                <a:cs typeface="Calibri"/>
              </a:rPr>
              <a:t>Then get out of the content</a:t>
            </a:r>
          </a:p>
          <a:p>
            <a:pPr algn="l">
              <a:lnSpc>
                <a:spcPct val="105000"/>
              </a:lnSpc>
              <a:spcBef>
                <a:spcPts val="0"/>
              </a:spcBef>
              <a:spcAft>
                <a:spcPts val="200"/>
              </a:spcAft>
            </a:pPr>
            <a:r>
              <a:rPr sz="1400" b="0">
                <a:solidFill>
                  <a:srgbClr val="1A1A1A"/>
                </a:solidFill>
                <a:latin typeface="Calibri"/>
                <a:ea typeface="Calibri"/>
                <a:cs typeface="Calibri"/>
              </a:rPr>
              <a:t>“That pain was mine, for the demo. Yours starts now. Press Start fresh.” Do not leave your example on the big screen while they choose. Turn the projector to the cover, or off. Otherwise the room designs your agent instead of theirs.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1068933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256032"/>
            <a:ext cx="5120640" cy="256032"/>
          </a:xfrm>
          <a:prstGeom prst="rect">
            <a:avLst/>
          </a:prstGeom>
          <a:noFill/>
        </p:spPr>
        <p:txBody>
          <a:bodyPr wrap="square" lIns="0" rIns="0" tIns="0" bIns="0"/>
          <a:lstStyle/>
          <a:p>
            <a:pPr algn="l">
              <a:lnSpc>
                <a:spcPct val="105000"/>
              </a:lnSpc>
              <a:spcBef>
                <a:spcPts val="0"/>
              </a:spcBef>
              <a:spcAft>
                <a:spcPts val="200"/>
              </a:spcAft>
            </a:pPr>
            <a:r>
              <a:rPr sz="1100" b="1">
                <a:solidFill>
                  <a:srgbClr val="DB0011"/>
                </a:solidFill>
                <a:latin typeface="Calibri"/>
                <a:ea typeface="Calibri"/>
                <a:cs typeface="Calibri"/>
              </a:rPr>
              <a:t>WEALTH SYMPOSIUM  ·  FACILITATOR GUIDE</a:t>
            </a:r>
          </a:p>
        </p:txBody>
      </p:sp>
      <p:sp>
        <p:nvSpPr>
          <p:cNvPr id="5" name="TextBox 4"/>
          <p:cNvSpPr txBox="1"/>
          <p:nvPr/>
        </p:nvSpPr>
        <p:spPr>
          <a:xfrm>
            <a:off x="5029200" y="256032"/>
            <a:ext cx="2148840" cy="256032"/>
          </a:xfrm>
          <a:prstGeom prst="rect">
            <a:avLst/>
          </a:prstGeom>
          <a:noFill/>
        </p:spPr>
        <p:txBody>
          <a:bodyPr wrap="square" lIns="0" rIns="0" tIns="0" bIns="0"/>
          <a:lstStyle/>
          <a:p>
            <a:pPr algn="r">
              <a:lnSpc>
                <a:spcPct val="105000"/>
              </a:lnSpc>
              <a:spcBef>
                <a:spcPts val="0"/>
              </a:spcBef>
              <a:spcAft>
                <a:spcPts val="200"/>
              </a:spcAft>
            </a:pPr>
            <a:r>
              <a:rPr sz="1100" b="0">
                <a:solidFill>
                  <a:srgbClr val="4A4A4A"/>
                </a:solidFill>
                <a:latin typeface="Calibri"/>
                <a:ea typeface="Calibri"/>
                <a:cs typeface="Calibri"/>
              </a:rPr>
              <a:t>04  While they work</a:t>
            </a:r>
          </a:p>
        </p:txBody>
      </p:sp>
      <p:sp>
        <p:nvSpPr>
          <p:cNvPr id="6" name="Rectangle 5"/>
          <p:cNvSpPr/>
          <p:nvPr/>
        </p:nvSpPr>
        <p:spPr>
          <a:xfrm>
            <a:off x="384048" y="566928"/>
            <a:ext cx="6784848" cy="13716"/>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0314432"/>
            <a:ext cx="6784848" cy="219456"/>
          </a:xfrm>
          <a:prstGeom prst="rect">
            <a:avLst/>
          </a:prstGeom>
          <a:noFill/>
        </p:spPr>
        <p:txBody>
          <a:bodyPr wrap="square" lIns="0" rIns="0" tIns="0" bIns="0"/>
          <a:lstStyle/>
          <a:p>
            <a:pPr algn="l">
              <a:lnSpc>
                <a:spcPct val="105000"/>
              </a:lnSpc>
              <a:spcBef>
                <a:spcPts val="0"/>
              </a:spcBef>
              <a:spcAft>
                <a:spcPts val="200"/>
              </a:spcAft>
            </a:pPr>
            <a:r>
              <a:rPr sz="1000" b="0">
                <a:solidFill>
                  <a:srgbClr val="4A4A4A"/>
                </a:solidFill>
                <a:latin typeface="Calibri"/>
                <a:ea typeface="Calibri"/>
                <a:cs typeface="Calibri"/>
              </a:rPr>
              <a:t>AI Powered, Human Led  ·  Do not hand this sheet to the groups</a:t>
            </a:r>
          </a:p>
        </p:txBody>
      </p:sp>
      <p:sp>
        <p:nvSpPr>
          <p:cNvPr id="8" name="TextBox 7"/>
          <p:cNvSpPr txBox="1"/>
          <p:nvPr/>
        </p:nvSpPr>
        <p:spPr>
          <a:xfrm>
            <a:off x="384048" y="713232"/>
            <a:ext cx="6784848" cy="384048"/>
          </a:xfrm>
          <a:prstGeom prst="rect">
            <a:avLst/>
          </a:prstGeom>
          <a:noFill/>
        </p:spPr>
        <p:txBody>
          <a:bodyPr wrap="square" lIns="0" rIns="0" tIns="0" bIns="0"/>
          <a:lstStyle/>
          <a:p>
            <a:pPr algn="l">
              <a:lnSpc>
                <a:spcPct val="105000"/>
              </a:lnSpc>
              <a:spcBef>
                <a:spcPts val="0"/>
              </a:spcBef>
              <a:spcAft>
                <a:spcPts val="200"/>
              </a:spcAft>
            </a:pPr>
            <a:r>
              <a:rPr sz="2600" b="1">
                <a:solidFill>
                  <a:srgbClr val="1A1A1A"/>
                </a:solidFill>
                <a:latin typeface="Calibri"/>
                <a:ea typeface="Calibri"/>
                <a:cs typeface="Calibri"/>
              </a:rPr>
              <a:t>Walk. Don't take the laptop.</a:t>
            </a:r>
          </a:p>
        </p:txBody>
      </p:sp>
      <p:sp>
        <p:nvSpPr>
          <p:cNvPr id="9" name="TextBox 8"/>
          <p:cNvSpPr txBox="1"/>
          <p:nvPr/>
        </p:nvSpPr>
        <p:spPr>
          <a:xfrm>
            <a:off x="384048" y="1115568"/>
            <a:ext cx="6784848" cy="502920"/>
          </a:xfrm>
          <a:prstGeom prst="rect">
            <a:avLst/>
          </a:prstGeom>
          <a:noFill/>
        </p:spPr>
        <p:txBody>
          <a:bodyPr wrap="square" lIns="0" rIns="0" tIns="0" bIns="0"/>
          <a:lstStyle/>
          <a:p>
            <a:pPr algn="l">
              <a:lnSpc>
                <a:spcPct val="105000"/>
              </a:lnSpc>
              <a:spcBef>
                <a:spcPts val="0"/>
              </a:spcBef>
              <a:spcAft>
                <a:spcPts val="200"/>
              </a:spcAft>
            </a:pPr>
            <a:r>
              <a:rPr sz="1400" b="0">
                <a:solidFill>
                  <a:srgbClr val="4A4A4A"/>
                </a:solidFill>
                <a:latin typeface="Calibri"/>
                <a:ea typeface="Calibri"/>
                <a:cs typeface="Calibri"/>
              </a:rPr>
              <a:t>Visit every table in each phase. Ask one question, then leave. If you stay, you become the fifth designer and the group waits for you.</a:t>
            </a:r>
          </a:p>
        </p:txBody>
      </p:sp>
      <p:sp>
        <p:nvSpPr>
          <p:cNvPr id="10" name="Rectangle 9"/>
          <p:cNvSpPr/>
          <p:nvPr/>
        </p:nvSpPr>
        <p:spPr>
          <a:xfrm>
            <a:off x="384048" y="1691640"/>
            <a:ext cx="6784848" cy="1965960"/>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746504"/>
            <a:ext cx="4937760" cy="274320"/>
          </a:xfrm>
          <a:prstGeom prst="rect">
            <a:avLst/>
          </a:prstGeom>
          <a:noFill/>
        </p:spPr>
        <p:txBody>
          <a:bodyPr wrap="square" lIns="0" rIns="0" tIns="0" bIns="0"/>
          <a:lstStyle/>
          <a:p>
            <a:pPr algn="l">
              <a:lnSpc>
                <a:spcPct val="105000"/>
              </a:lnSpc>
              <a:spcBef>
                <a:spcPts val="0"/>
              </a:spcBef>
              <a:spcAft>
                <a:spcPts val="200"/>
              </a:spcAft>
            </a:pPr>
            <a:r>
              <a:rPr sz="1500" b="1">
                <a:solidFill>
                  <a:srgbClr val="1A1A1A"/>
                </a:solidFill>
                <a:latin typeface="Calibri"/>
                <a:ea typeface="Calibri"/>
                <a:cs typeface="Calibri"/>
              </a:rPr>
              <a:t>0   Painpoint</a:t>
            </a:r>
          </a:p>
        </p:txBody>
      </p:sp>
      <p:sp>
        <p:nvSpPr>
          <p:cNvPr id="12" name="TextBox 11"/>
          <p:cNvSpPr txBox="1"/>
          <p:nvPr/>
        </p:nvSpPr>
        <p:spPr>
          <a:xfrm>
            <a:off x="5212080" y="1764792"/>
            <a:ext cx="1828800" cy="256032"/>
          </a:xfrm>
          <a:prstGeom prst="rect">
            <a:avLst/>
          </a:prstGeom>
          <a:noFill/>
        </p:spPr>
        <p:txBody>
          <a:bodyPr wrap="square" lIns="0" rIns="0" tIns="0" bIns="0"/>
          <a:lstStyle/>
          <a:p>
            <a:pPr algn="r">
              <a:lnSpc>
                <a:spcPct val="105000"/>
              </a:lnSpc>
              <a:spcBef>
                <a:spcPts val="0"/>
              </a:spcBef>
              <a:spcAft>
                <a:spcPts val="200"/>
              </a:spcAft>
            </a:pPr>
            <a:r>
              <a:rPr sz="1300" b="1">
                <a:solidFill>
                  <a:srgbClr val="DB0011"/>
                </a:solidFill>
                <a:latin typeface="Calibri"/>
                <a:ea typeface="Calibri"/>
                <a:cs typeface="Calibri"/>
              </a:rPr>
              <a:t>5 minutes</a:t>
            </a:r>
          </a:p>
        </p:txBody>
      </p:sp>
      <p:sp>
        <p:nvSpPr>
          <p:cNvPr id="13" name="TextBox 12"/>
          <p:cNvSpPr txBox="1"/>
          <p:nvPr/>
        </p:nvSpPr>
        <p:spPr>
          <a:xfrm>
            <a:off x="502920" y="2039112"/>
            <a:ext cx="6537960" cy="1554480"/>
          </a:xfrm>
          <a:prstGeom prst="rect">
            <a:avLst/>
          </a:prstGeom>
          <a:noFill/>
        </p:spPr>
        <p:txBody>
          <a:bodyPr wrap="square" lIns="0" rIns="0" tIns="0" bIns="0"/>
          <a:lstStyle/>
          <a:p>
            <a:pPr algn="l">
              <a:lnSpc>
                <a:spcPct val="105000"/>
              </a:lnSpc>
              <a:spcBef>
                <a:spcPts val="0"/>
              </a:spcBef>
              <a:spcAft>
                <a:spcPts val="200"/>
              </a:spcAft>
            </a:pPr>
            <a:r>
              <a:rPr sz="1200" b="0">
                <a:solidFill>
                  <a:srgbClr val="1A1A1A"/>
                </a:solidFill>
                <a:latin typeface="Calibri"/>
                <a:ea typeface="Calibri"/>
                <a:cs typeface="Calibri"/>
              </a:rPr>
              <a:t>They need  One card, or their own sentence in the bottom row. Next stays grey until then.</a:t>
            </a:r>
          </a:p>
          <a:p>
            <a:pPr algn="l">
              <a:lnSpc>
                <a:spcPct val="105000"/>
              </a:lnSpc>
              <a:spcBef>
                <a:spcPts val="0"/>
              </a:spcBef>
              <a:spcAft>
                <a:spcPts val="200"/>
              </a:spcAft>
            </a:pPr>
            <a:r>
              <a:rPr sz="1200" b="0">
                <a:solidFill>
                  <a:srgbClr val="1A1A1A"/>
                </a:solidFill>
                <a:latin typeface="Calibri"/>
                <a:ea typeface="Calibri"/>
                <a:cs typeface="Calibri"/>
              </a:rPr>
              <a:t>You watch  Choosing a pain, or already designing the agent. A pain is a situation. An idea is a feature.</a:t>
            </a:r>
          </a:p>
          <a:p>
            <a:pPr algn="l">
              <a:lnSpc>
                <a:spcPct val="105000"/>
              </a:lnSpc>
              <a:spcBef>
                <a:spcPts val="0"/>
              </a:spcBef>
              <a:spcAft>
                <a:spcPts val="200"/>
              </a:spcAft>
            </a:pPr>
            <a:r>
              <a:rPr sz="1200" b="0">
                <a:solidFill>
                  <a:srgbClr val="1A1A1A"/>
                </a:solidFill>
                <a:latin typeface="Calibri"/>
                <a:ea typeface="Calibri"/>
                <a:cs typeface="Calibri"/>
              </a:rPr>
              <a:t>If stuck  “Which of these would you want gone before Thursday?”</a:t>
            </a:r>
          </a:p>
        </p:txBody>
      </p:sp>
      <p:sp>
        <p:nvSpPr>
          <p:cNvPr id="14" name="Rectangle 13"/>
          <p:cNvSpPr/>
          <p:nvPr/>
        </p:nvSpPr>
        <p:spPr>
          <a:xfrm>
            <a:off x="384048" y="3749039"/>
            <a:ext cx="6784848" cy="1965960"/>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803903"/>
            <a:ext cx="4937760" cy="274320"/>
          </a:xfrm>
          <a:prstGeom prst="rect">
            <a:avLst/>
          </a:prstGeom>
          <a:noFill/>
        </p:spPr>
        <p:txBody>
          <a:bodyPr wrap="square" lIns="0" rIns="0" tIns="0" bIns="0"/>
          <a:lstStyle/>
          <a:p>
            <a:pPr algn="l">
              <a:lnSpc>
                <a:spcPct val="105000"/>
              </a:lnSpc>
              <a:spcBef>
                <a:spcPts val="0"/>
              </a:spcBef>
              <a:spcAft>
                <a:spcPts val="200"/>
              </a:spcAft>
            </a:pPr>
            <a:r>
              <a:rPr sz="1500" b="1">
                <a:solidFill>
                  <a:srgbClr val="1A1A1A"/>
                </a:solidFill>
                <a:latin typeface="Calibri"/>
                <a:ea typeface="Calibri"/>
                <a:cs typeface="Calibri"/>
              </a:rPr>
              <a:t>1   Idea brief</a:t>
            </a:r>
          </a:p>
        </p:txBody>
      </p:sp>
      <p:sp>
        <p:nvSpPr>
          <p:cNvPr id="16" name="TextBox 15"/>
          <p:cNvSpPr txBox="1"/>
          <p:nvPr/>
        </p:nvSpPr>
        <p:spPr>
          <a:xfrm>
            <a:off x="5212080" y="3822191"/>
            <a:ext cx="1828800" cy="256032"/>
          </a:xfrm>
          <a:prstGeom prst="rect">
            <a:avLst/>
          </a:prstGeom>
          <a:noFill/>
        </p:spPr>
        <p:txBody>
          <a:bodyPr wrap="square" lIns="0" rIns="0" tIns="0" bIns="0"/>
          <a:lstStyle/>
          <a:p>
            <a:pPr algn="r">
              <a:lnSpc>
                <a:spcPct val="105000"/>
              </a:lnSpc>
              <a:spcBef>
                <a:spcPts val="0"/>
              </a:spcBef>
              <a:spcAft>
                <a:spcPts val="200"/>
              </a:spcAft>
            </a:pPr>
            <a:r>
              <a:rPr sz="1300" b="1">
                <a:solidFill>
                  <a:srgbClr val="DB0011"/>
                </a:solidFill>
                <a:latin typeface="Calibri"/>
                <a:ea typeface="Calibri"/>
                <a:cs typeface="Calibri"/>
              </a:rPr>
              <a:t>5 minutes</a:t>
            </a:r>
          </a:p>
        </p:txBody>
      </p:sp>
      <p:sp>
        <p:nvSpPr>
          <p:cNvPr id="17" name="TextBox 16"/>
          <p:cNvSpPr txBox="1"/>
          <p:nvPr/>
        </p:nvSpPr>
        <p:spPr>
          <a:xfrm>
            <a:off x="502920" y="4096511"/>
            <a:ext cx="6537960" cy="1554480"/>
          </a:xfrm>
          <a:prstGeom prst="rect">
            <a:avLst/>
          </a:prstGeom>
          <a:noFill/>
        </p:spPr>
        <p:txBody>
          <a:bodyPr wrap="square" lIns="0" rIns="0" tIns="0" bIns="0"/>
          <a:lstStyle/>
          <a:p>
            <a:pPr algn="l">
              <a:lnSpc>
                <a:spcPct val="105000"/>
              </a:lnSpc>
              <a:spcBef>
                <a:spcPts val="0"/>
              </a:spcBef>
              <a:spcAft>
                <a:spcPts val="200"/>
              </a:spcAft>
            </a:pPr>
            <a:r>
              <a:rPr sz="1200" b="0">
                <a:solidFill>
                  <a:srgbClr val="1A1A1A"/>
                </a:solidFill>
                <a:latin typeface="Calibri"/>
                <a:ea typeface="Calibri"/>
                <a:cs typeface="Calibri"/>
              </a:rPr>
              <a:t>They need  A short name and three boxes, in their words. Next needs all four. The pain at the top is locked.</a:t>
            </a:r>
          </a:p>
          <a:p>
            <a:pPr algn="l">
              <a:lnSpc>
                <a:spcPct val="105000"/>
              </a:lnSpc>
              <a:spcBef>
                <a:spcPts val="0"/>
              </a:spcBef>
              <a:spcAft>
                <a:spcPts val="200"/>
              </a:spcAft>
            </a:pPr>
            <a:r>
              <a:rPr sz="1200" b="0">
                <a:solidFill>
                  <a:srgbClr val="1A1A1A"/>
                </a:solidFill>
                <a:latin typeface="Calibri"/>
                <a:ea typeface="Calibri"/>
                <a:cs typeface="Calibri"/>
              </a:rPr>
              <a:t>You watch  A name that sounds like a product. A job that is “helps with everything.” A benefit that fits any agent.</a:t>
            </a:r>
          </a:p>
          <a:p>
            <a:pPr algn="l">
              <a:lnSpc>
                <a:spcPct val="105000"/>
              </a:lnSpc>
              <a:spcBef>
                <a:spcPts val="0"/>
              </a:spcBef>
              <a:spcAft>
                <a:spcPts val="200"/>
              </a:spcAft>
            </a:pPr>
            <a:r>
              <a:rPr sz="1200" b="0">
                <a:solidFill>
                  <a:srgbClr val="1A1A1A"/>
                </a:solidFill>
                <a:latin typeface="Calibri"/>
                <a:ea typeface="Calibri"/>
                <a:cs typeface="Calibri"/>
              </a:rPr>
              <a:t>If stuck  “Say the name out loud.” For a thin box: “Write a bit more. After about ten words, Refine can help. You still press Accept.”</a:t>
            </a:r>
          </a:p>
        </p:txBody>
      </p:sp>
      <p:sp>
        <p:nvSpPr>
          <p:cNvPr id="18" name="Rectangle 17"/>
          <p:cNvSpPr/>
          <p:nvPr/>
        </p:nvSpPr>
        <p:spPr>
          <a:xfrm>
            <a:off x="384048" y="5806440"/>
            <a:ext cx="6784848" cy="1965960"/>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5861303"/>
            <a:ext cx="4937760" cy="274320"/>
          </a:xfrm>
          <a:prstGeom prst="rect">
            <a:avLst/>
          </a:prstGeom>
          <a:noFill/>
        </p:spPr>
        <p:txBody>
          <a:bodyPr wrap="square" lIns="0" rIns="0" tIns="0" bIns="0"/>
          <a:lstStyle/>
          <a:p>
            <a:pPr algn="l">
              <a:lnSpc>
                <a:spcPct val="105000"/>
              </a:lnSpc>
              <a:spcBef>
                <a:spcPts val="0"/>
              </a:spcBef>
              <a:spcAft>
                <a:spcPts val="200"/>
              </a:spcAft>
            </a:pPr>
            <a:r>
              <a:rPr sz="1500" b="1">
                <a:solidFill>
                  <a:srgbClr val="1A1A1A"/>
                </a:solidFill>
                <a:latin typeface="Calibri"/>
                <a:ea typeface="Calibri"/>
                <a:cs typeface="Calibri"/>
              </a:rPr>
              <a:t>2   Three screens</a:t>
            </a:r>
          </a:p>
        </p:txBody>
      </p:sp>
      <p:sp>
        <p:nvSpPr>
          <p:cNvPr id="20" name="TextBox 19"/>
          <p:cNvSpPr txBox="1"/>
          <p:nvPr/>
        </p:nvSpPr>
        <p:spPr>
          <a:xfrm>
            <a:off x="5212080" y="5879592"/>
            <a:ext cx="1828800" cy="256032"/>
          </a:xfrm>
          <a:prstGeom prst="rect">
            <a:avLst/>
          </a:prstGeom>
          <a:noFill/>
        </p:spPr>
        <p:txBody>
          <a:bodyPr wrap="square" lIns="0" rIns="0" tIns="0" bIns="0"/>
          <a:lstStyle/>
          <a:p>
            <a:pPr algn="r">
              <a:lnSpc>
                <a:spcPct val="105000"/>
              </a:lnSpc>
              <a:spcBef>
                <a:spcPts val="0"/>
              </a:spcBef>
              <a:spcAft>
                <a:spcPts val="200"/>
              </a:spcAft>
            </a:pPr>
            <a:r>
              <a:rPr sz="1300" b="1">
                <a:solidFill>
                  <a:srgbClr val="DB0011"/>
                </a:solidFill>
                <a:latin typeface="Calibri"/>
                <a:ea typeface="Calibri"/>
                <a:cs typeface="Calibri"/>
              </a:rPr>
              <a:t>8 minutes</a:t>
            </a:r>
          </a:p>
        </p:txBody>
      </p:sp>
      <p:sp>
        <p:nvSpPr>
          <p:cNvPr id="21" name="TextBox 20"/>
          <p:cNvSpPr txBox="1"/>
          <p:nvPr/>
        </p:nvSpPr>
        <p:spPr>
          <a:xfrm>
            <a:off x="502920" y="6153912"/>
            <a:ext cx="6537960" cy="1554480"/>
          </a:xfrm>
          <a:prstGeom prst="rect">
            <a:avLst/>
          </a:prstGeom>
          <a:noFill/>
        </p:spPr>
        <p:txBody>
          <a:bodyPr wrap="square" lIns="0" rIns="0" tIns="0" bIns="0"/>
          <a:lstStyle/>
          <a:p>
            <a:pPr algn="l">
              <a:lnSpc>
                <a:spcPct val="105000"/>
              </a:lnSpc>
              <a:spcBef>
                <a:spcPts val="0"/>
              </a:spcBef>
              <a:spcAft>
                <a:spcPts val="200"/>
              </a:spcAft>
            </a:pPr>
            <a:r>
              <a:rPr sz="1200" b="0">
                <a:solidFill>
                  <a:srgbClr val="1A1A1A"/>
                </a:solidFill>
                <a:latin typeface="Calibri"/>
                <a:ea typeface="Calibri"/>
                <a:cs typeface="Calibri"/>
              </a:rPr>
              <a:t>They need  Three different moments, in order, each with a picture. Next stays grey if one is missing or out of date.</a:t>
            </a:r>
          </a:p>
          <a:p>
            <a:pPr algn="l">
              <a:lnSpc>
                <a:spcPct val="105000"/>
              </a:lnSpc>
              <a:spcBef>
                <a:spcPts val="0"/>
              </a:spcBef>
              <a:spcAft>
                <a:spcPts val="200"/>
              </a:spcAft>
            </a:pPr>
            <a:r>
              <a:rPr sz="1200" b="0">
                <a:solidFill>
                  <a:srgbClr val="1A1A1A"/>
                </a:solidFill>
                <a:latin typeface="Calibri"/>
                <a:ea typeface="Calibri"/>
                <a:cs typeface="Calibri"/>
              </a:rPr>
              <a:t>You watch  Three versions of the same moment. A prompt that restates the pain. A group waiting on one perfect picture.</a:t>
            </a:r>
          </a:p>
          <a:p>
            <a:pPr algn="l">
              <a:lnSpc>
                <a:spcPct val="105000"/>
              </a:lnSpc>
              <a:spcBef>
                <a:spcPts val="0"/>
              </a:spcBef>
              <a:spcAft>
                <a:spcPts val="200"/>
              </a:spcAft>
            </a:pPr>
            <a:r>
              <a:rPr sz="1200" b="0">
                <a:solidFill>
                  <a:srgbClr val="1A1A1A"/>
                </a:solidFill>
                <a:latin typeface="Calibri"/>
                <a:ea typeface="Calibri"/>
                <a:cs typeface="Calibri"/>
              </a:rPr>
              <a:t>If stuck  “Screen 1 is the assistant starting. Screen 3 is you doing something you could not do then. Regenerate that screen only.”</a:t>
            </a:r>
          </a:p>
        </p:txBody>
      </p:sp>
      <p:sp>
        <p:nvSpPr>
          <p:cNvPr id="22" name="Rectangle 21"/>
          <p:cNvSpPr/>
          <p:nvPr/>
        </p:nvSpPr>
        <p:spPr>
          <a:xfrm>
            <a:off x="384048" y="7863840"/>
            <a:ext cx="6784848" cy="1965960"/>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7918704"/>
            <a:ext cx="4937760" cy="274320"/>
          </a:xfrm>
          <a:prstGeom prst="rect">
            <a:avLst/>
          </a:prstGeom>
          <a:noFill/>
        </p:spPr>
        <p:txBody>
          <a:bodyPr wrap="square" lIns="0" rIns="0" tIns="0" bIns="0"/>
          <a:lstStyle/>
          <a:p>
            <a:pPr algn="l">
              <a:lnSpc>
                <a:spcPct val="105000"/>
              </a:lnSpc>
              <a:spcBef>
                <a:spcPts val="0"/>
              </a:spcBef>
              <a:spcAft>
                <a:spcPts val="200"/>
              </a:spcAft>
            </a:pPr>
            <a:r>
              <a:rPr sz="1500" b="1">
                <a:solidFill>
                  <a:srgbClr val="1A1A1A"/>
                </a:solidFill>
                <a:latin typeface="Calibri"/>
                <a:ea typeface="Calibri"/>
                <a:cs typeface="Calibri"/>
              </a:rPr>
              <a:t>3   Demo</a:t>
            </a:r>
          </a:p>
        </p:txBody>
      </p:sp>
      <p:sp>
        <p:nvSpPr>
          <p:cNvPr id="24" name="TextBox 23"/>
          <p:cNvSpPr txBox="1"/>
          <p:nvPr/>
        </p:nvSpPr>
        <p:spPr>
          <a:xfrm>
            <a:off x="5212080" y="7936992"/>
            <a:ext cx="1828800" cy="256032"/>
          </a:xfrm>
          <a:prstGeom prst="rect">
            <a:avLst/>
          </a:prstGeom>
          <a:noFill/>
        </p:spPr>
        <p:txBody>
          <a:bodyPr wrap="square" lIns="0" rIns="0" tIns="0" bIns="0"/>
          <a:lstStyle/>
          <a:p>
            <a:pPr algn="r">
              <a:lnSpc>
                <a:spcPct val="105000"/>
              </a:lnSpc>
              <a:spcBef>
                <a:spcPts val="0"/>
              </a:spcBef>
              <a:spcAft>
                <a:spcPts val="200"/>
              </a:spcAft>
            </a:pPr>
            <a:r>
              <a:rPr sz="1300" b="1">
                <a:solidFill>
                  <a:srgbClr val="DB0011"/>
                </a:solidFill>
                <a:latin typeface="Calibri"/>
                <a:ea typeface="Calibri"/>
                <a:cs typeface="Calibri"/>
              </a:rPr>
              <a:t>12 minutes</a:t>
            </a:r>
          </a:p>
        </p:txBody>
      </p:sp>
      <p:sp>
        <p:nvSpPr>
          <p:cNvPr id="25" name="TextBox 24"/>
          <p:cNvSpPr txBox="1"/>
          <p:nvPr/>
        </p:nvSpPr>
        <p:spPr>
          <a:xfrm>
            <a:off x="502920" y="8211312"/>
            <a:ext cx="6537960" cy="1554480"/>
          </a:xfrm>
          <a:prstGeom prst="rect">
            <a:avLst/>
          </a:prstGeom>
          <a:noFill/>
        </p:spPr>
        <p:txBody>
          <a:bodyPr wrap="square" lIns="0" rIns="0" tIns="0" bIns="0"/>
          <a:lstStyle/>
          <a:p>
            <a:pPr algn="l">
              <a:lnSpc>
                <a:spcPct val="105000"/>
              </a:lnSpc>
              <a:spcBef>
                <a:spcPts val="0"/>
              </a:spcBef>
              <a:spcAft>
                <a:spcPts val="200"/>
              </a:spcAft>
            </a:pPr>
            <a:r>
              <a:rPr sz="1200" b="0">
                <a:solidFill>
                  <a:srgbClr val="1A1A1A"/>
                </a:solidFill>
                <a:latin typeface="Calibri"/>
                <a:ea typeface="Calibri"/>
                <a:cs typeface="Calibri"/>
              </a:rPr>
              <a:t>They need  Generate the demo, then one or two edits. Present is how they will show it.</a:t>
            </a:r>
          </a:p>
          <a:p>
            <a:pPr algn="l">
              <a:lnSpc>
                <a:spcPct val="105000"/>
              </a:lnSpc>
              <a:spcBef>
                <a:spcPts val="0"/>
              </a:spcBef>
              <a:spcAft>
                <a:spcPts val="200"/>
              </a:spcAft>
            </a:pPr>
            <a:r>
              <a:rPr sz="1200" b="0">
                <a:solidFill>
                  <a:srgbClr val="1A1A1A"/>
                </a:solidFill>
                <a:latin typeface="Calibri"/>
                <a:ea typeface="Calibri"/>
                <a:cs typeface="Calibri"/>
              </a:rPr>
              <a:t>You watch  Still rewriting the brief. Refreshing the page. Asking for a fifth feature. Silent, watching a spinner.</a:t>
            </a:r>
          </a:p>
          <a:p>
            <a:pPr algn="l">
              <a:lnSpc>
                <a:spcPct val="105000"/>
              </a:lnSpc>
              <a:spcBef>
                <a:spcPts val="0"/>
              </a:spcBef>
              <a:spcAft>
                <a:spcPts val="200"/>
              </a:spcAft>
            </a:pPr>
            <a:r>
              <a:rPr sz="1200" b="0">
                <a:solidFill>
                  <a:srgbClr val="1A1A1A"/>
                </a:solidFill>
                <a:latin typeface="Calibri"/>
                <a:ea typeface="Calibri"/>
                <a:cs typeface="Calibri"/>
              </a:rPr>
              <a:t>If stuck  “One change, then stop. If this died, press Resume. Start fresh deletes the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1068933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256032"/>
            <a:ext cx="5120640" cy="256032"/>
          </a:xfrm>
          <a:prstGeom prst="rect">
            <a:avLst/>
          </a:prstGeom>
          <a:noFill/>
        </p:spPr>
        <p:txBody>
          <a:bodyPr wrap="square" lIns="0" rIns="0" tIns="0" bIns="0"/>
          <a:lstStyle/>
          <a:p>
            <a:pPr algn="l">
              <a:lnSpc>
                <a:spcPct val="105000"/>
              </a:lnSpc>
              <a:spcBef>
                <a:spcPts val="0"/>
              </a:spcBef>
              <a:spcAft>
                <a:spcPts val="200"/>
              </a:spcAft>
            </a:pPr>
            <a:r>
              <a:rPr sz="1100" b="1">
                <a:solidFill>
                  <a:srgbClr val="DB0011"/>
                </a:solidFill>
                <a:latin typeface="Calibri"/>
                <a:ea typeface="Calibri"/>
                <a:cs typeface="Calibri"/>
              </a:rPr>
              <a:t>WEALTH SYMPOSIUM  ·  FACILITATOR GUIDE</a:t>
            </a:r>
          </a:p>
        </p:txBody>
      </p:sp>
      <p:sp>
        <p:nvSpPr>
          <p:cNvPr id="5" name="TextBox 4"/>
          <p:cNvSpPr txBox="1"/>
          <p:nvPr/>
        </p:nvSpPr>
        <p:spPr>
          <a:xfrm>
            <a:off x="5029200" y="256032"/>
            <a:ext cx="2148840" cy="256032"/>
          </a:xfrm>
          <a:prstGeom prst="rect">
            <a:avLst/>
          </a:prstGeom>
          <a:noFill/>
        </p:spPr>
        <p:txBody>
          <a:bodyPr wrap="square" lIns="0" rIns="0" tIns="0" bIns="0"/>
          <a:lstStyle/>
          <a:p>
            <a:pPr algn="r">
              <a:lnSpc>
                <a:spcPct val="105000"/>
              </a:lnSpc>
              <a:spcBef>
                <a:spcPts val="0"/>
              </a:spcBef>
              <a:spcAft>
                <a:spcPts val="200"/>
              </a:spcAft>
            </a:pPr>
            <a:r>
              <a:rPr sz="1100" b="0">
                <a:solidFill>
                  <a:srgbClr val="4A4A4A"/>
                </a:solidFill>
                <a:latin typeface="Calibri"/>
                <a:ea typeface="Calibri"/>
                <a:cs typeface="Calibri"/>
              </a:rPr>
              <a:t>05  Ninety seconds</a:t>
            </a:r>
          </a:p>
        </p:txBody>
      </p:sp>
      <p:sp>
        <p:nvSpPr>
          <p:cNvPr id="6" name="Rectangle 5"/>
          <p:cNvSpPr/>
          <p:nvPr/>
        </p:nvSpPr>
        <p:spPr>
          <a:xfrm>
            <a:off x="384048" y="566928"/>
            <a:ext cx="6784848" cy="13716"/>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0314432"/>
            <a:ext cx="6784848" cy="219456"/>
          </a:xfrm>
          <a:prstGeom prst="rect">
            <a:avLst/>
          </a:prstGeom>
          <a:noFill/>
        </p:spPr>
        <p:txBody>
          <a:bodyPr wrap="square" lIns="0" rIns="0" tIns="0" bIns="0"/>
          <a:lstStyle/>
          <a:p>
            <a:pPr algn="l">
              <a:lnSpc>
                <a:spcPct val="105000"/>
              </a:lnSpc>
              <a:spcBef>
                <a:spcPts val="0"/>
              </a:spcBef>
              <a:spcAft>
                <a:spcPts val="200"/>
              </a:spcAft>
            </a:pPr>
            <a:r>
              <a:rPr sz="1000" b="0">
                <a:solidFill>
                  <a:srgbClr val="4A4A4A"/>
                </a:solidFill>
                <a:latin typeface="Calibri"/>
                <a:ea typeface="Calibri"/>
                <a:cs typeface="Calibri"/>
              </a:rPr>
              <a:t>AI Powered, Human Led  ·  Do not hand this sheet to the groups</a:t>
            </a:r>
          </a:p>
        </p:txBody>
      </p:sp>
      <p:sp>
        <p:nvSpPr>
          <p:cNvPr id="8" name="TextBox 7"/>
          <p:cNvSpPr txBox="1"/>
          <p:nvPr/>
        </p:nvSpPr>
        <p:spPr>
          <a:xfrm>
            <a:off x="384048" y="713232"/>
            <a:ext cx="6784848" cy="384048"/>
          </a:xfrm>
          <a:prstGeom prst="rect">
            <a:avLst/>
          </a:prstGeom>
          <a:noFill/>
        </p:spPr>
        <p:txBody>
          <a:bodyPr wrap="square" lIns="0" rIns="0" tIns="0" bIns="0"/>
          <a:lstStyle/>
          <a:p>
            <a:pPr algn="l">
              <a:lnSpc>
                <a:spcPct val="105000"/>
              </a:lnSpc>
              <a:spcBef>
                <a:spcPts val="0"/>
              </a:spcBef>
              <a:spcAft>
                <a:spcPts val="200"/>
              </a:spcAft>
            </a:pPr>
            <a:r>
              <a:rPr sz="2600" b="1">
                <a:solidFill>
                  <a:srgbClr val="1A1A1A"/>
                </a:solidFill>
                <a:latin typeface="Calibri"/>
                <a:ea typeface="Calibri"/>
                <a:cs typeface="Calibri"/>
              </a:rPr>
              <a:t>Chair it. Don't coach it.</a:t>
            </a:r>
          </a:p>
        </p:txBody>
      </p:sp>
      <p:sp>
        <p:nvSpPr>
          <p:cNvPr id="9" name="TextBox 8"/>
          <p:cNvSpPr txBox="1"/>
          <p:nvPr/>
        </p:nvSpPr>
        <p:spPr>
          <a:xfrm>
            <a:off x="384048" y="1143000"/>
            <a:ext cx="6784848" cy="777240"/>
          </a:xfrm>
          <a:prstGeom prst="rect">
            <a:avLst/>
          </a:prstGeom>
          <a:noFill/>
        </p:spPr>
        <p:txBody>
          <a:bodyPr wrap="square" lIns="0" rIns="0" tIns="0" bIns="0"/>
          <a:lstStyle/>
          <a:p>
            <a:pPr algn="l">
              <a:lnSpc>
                <a:spcPct val="105000"/>
              </a:lnSpc>
              <a:spcBef>
                <a:spcPts val="0"/>
              </a:spcBef>
              <a:spcAft>
                <a:spcPts val="200"/>
              </a:spcAft>
            </a:pPr>
            <a:r>
              <a:rPr sz="1400" b="0">
                <a:solidFill>
                  <a:srgbClr val="1A1A1A"/>
                </a:solidFill>
                <a:latin typeface="Calibri"/>
                <a:ea typeface="Calibri"/>
                <a:cs typeface="Calibri"/>
              </a:rPr>
              <a:t>Same order every time, so the room can compare. You keep a hand up at seventy-five seconds and you thank them when the ninety is done. No questions from the floor. No “what I would have done” from you. That conversation happens after, if at all.</a:t>
            </a:r>
          </a:p>
        </p:txBody>
      </p:sp>
      <p:sp>
        <p:nvSpPr>
          <p:cNvPr id="10" name="Rectangle 9"/>
          <p:cNvSpPr/>
          <p:nvPr/>
        </p:nvSpPr>
        <p:spPr>
          <a:xfrm>
            <a:off x="384048" y="2057400"/>
            <a:ext cx="438912" cy="43891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2112264"/>
            <a:ext cx="438912" cy="347472"/>
          </a:xfrm>
          <a:prstGeom prst="rect">
            <a:avLst/>
          </a:prstGeom>
          <a:noFill/>
        </p:spPr>
        <p:txBody>
          <a:bodyPr wrap="square" lIns="0" rIns="0" tIns="0" bIns="0"/>
          <a:lstStyle/>
          <a:p>
            <a:pPr algn="ctr">
              <a:lnSpc>
                <a:spcPct val="105000"/>
              </a:lnSpc>
              <a:spcBef>
                <a:spcPts val="0"/>
              </a:spcBef>
              <a:spcAft>
                <a:spcPts val="200"/>
              </a:spcAft>
            </a:pPr>
            <a:r>
              <a:rPr sz="1600" b="1">
                <a:solidFill>
                  <a:srgbClr val="FFFFFF"/>
                </a:solidFill>
                <a:latin typeface="Calibri"/>
                <a:ea typeface="Calibri"/>
                <a:cs typeface="Calibri"/>
              </a:rPr>
              <a:t>1</a:t>
            </a:r>
          </a:p>
        </p:txBody>
      </p:sp>
      <p:sp>
        <p:nvSpPr>
          <p:cNvPr id="12" name="TextBox 11"/>
          <p:cNvSpPr txBox="1"/>
          <p:nvPr/>
        </p:nvSpPr>
        <p:spPr>
          <a:xfrm>
            <a:off x="960120" y="2057400"/>
            <a:ext cx="6126480" cy="256032"/>
          </a:xfrm>
          <a:prstGeom prst="rect">
            <a:avLst/>
          </a:prstGeom>
          <a:noFill/>
        </p:spPr>
        <p:txBody>
          <a:bodyPr wrap="square" lIns="0" rIns="0" tIns="0" bIns="0"/>
          <a:lstStyle/>
          <a:p>
            <a:pPr algn="l">
              <a:lnSpc>
                <a:spcPct val="105000"/>
              </a:lnSpc>
              <a:spcBef>
                <a:spcPts val="0"/>
              </a:spcBef>
              <a:spcAft>
                <a:spcPts val="200"/>
              </a:spcAft>
            </a:pPr>
            <a:r>
              <a:rPr sz="1500" b="1">
                <a:solidFill>
                  <a:srgbClr val="1A1A1A"/>
                </a:solidFill>
                <a:latin typeface="Calibri"/>
                <a:ea typeface="Calibri"/>
                <a:cs typeface="Calibri"/>
              </a:rPr>
              <a:t>The pain</a:t>
            </a:r>
          </a:p>
        </p:txBody>
      </p:sp>
      <p:sp>
        <p:nvSpPr>
          <p:cNvPr id="13" name="TextBox 12"/>
          <p:cNvSpPr txBox="1"/>
          <p:nvPr/>
        </p:nvSpPr>
        <p:spPr>
          <a:xfrm>
            <a:off x="960120" y="2331720"/>
            <a:ext cx="612648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The situation, not the solution. One or two sentences.</a:t>
            </a:r>
          </a:p>
        </p:txBody>
      </p:sp>
      <p:sp>
        <p:nvSpPr>
          <p:cNvPr id="14" name="Rectangle 13"/>
          <p:cNvSpPr/>
          <p:nvPr/>
        </p:nvSpPr>
        <p:spPr>
          <a:xfrm>
            <a:off x="384048" y="2715768"/>
            <a:ext cx="438912" cy="43891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2770632"/>
            <a:ext cx="438912" cy="347472"/>
          </a:xfrm>
          <a:prstGeom prst="rect">
            <a:avLst/>
          </a:prstGeom>
          <a:noFill/>
        </p:spPr>
        <p:txBody>
          <a:bodyPr wrap="square" lIns="0" rIns="0" tIns="0" bIns="0"/>
          <a:lstStyle/>
          <a:p>
            <a:pPr algn="ctr">
              <a:lnSpc>
                <a:spcPct val="105000"/>
              </a:lnSpc>
              <a:spcBef>
                <a:spcPts val="0"/>
              </a:spcBef>
              <a:spcAft>
                <a:spcPts val="200"/>
              </a:spcAft>
            </a:pPr>
            <a:r>
              <a:rPr sz="1600" b="1">
                <a:solidFill>
                  <a:srgbClr val="FFFFFF"/>
                </a:solidFill>
                <a:latin typeface="Calibri"/>
                <a:ea typeface="Calibri"/>
                <a:cs typeface="Calibri"/>
              </a:rPr>
              <a:t>2</a:t>
            </a:r>
          </a:p>
        </p:txBody>
      </p:sp>
      <p:sp>
        <p:nvSpPr>
          <p:cNvPr id="16" name="TextBox 15"/>
          <p:cNvSpPr txBox="1"/>
          <p:nvPr/>
        </p:nvSpPr>
        <p:spPr>
          <a:xfrm>
            <a:off x="960120" y="2715768"/>
            <a:ext cx="6126480" cy="256032"/>
          </a:xfrm>
          <a:prstGeom prst="rect">
            <a:avLst/>
          </a:prstGeom>
          <a:noFill/>
        </p:spPr>
        <p:txBody>
          <a:bodyPr wrap="square" lIns="0" rIns="0" tIns="0" bIns="0"/>
          <a:lstStyle/>
          <a:p>
            <a:pPr algn="l">
              <a:lnSpc>
                <a:spcPct val="105000"/>
              </a:lnSpc>
              <a:spcBef>
                <a:spcPts val="0"/>
              </a:spcBef>
              <a:spcAft>
                <a:spcPts val="200"/>
              </a:spcAft>
            </a:pPr>
            <a:r>
              <a:rPr sz="1500" b="1">
                <a:solidFill>
                  <a:srgbClr val="1A1A1A"/>
                </a:solidFill>
                <a:latin typeface="Calibri"/>
                <a:ea typeface="Calibri"/>
                <a:cs typeface="Calibri"/>
              </a:rPr>
              <a:t>The agent</a:t>
            </a:r>
          </a:p>
        </p:txBody>
      </p:sp>
      <p:sp>
        <p:nvSpPr>
          <p:cNvPr id="17" name="TextBox 16"/>
          <p:cNvSpPr txBox="1"/>
          <p:nvPr/>
        </p:nvSpPr>
        <p:spPr>
          <a:xfrm>
            <a:off x="960120" y="2990087"/>
            <a:ext cx="612648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The name, and the one job it does.</a:t>
            </a:r>
          </a:p>
        </p:txBody>
      </p:sp>
      <p:sp>
        <p:nvSpPr>
          <p:cNvPr id="18" name="Rectangle 17"/>
          <p:cNvSpPr/>
          <p:nvPr/>
        </p:nvSpPr>
        <p:spPr>
          <a:xfrm>
            <a:off x="384048" y="3374135"/>
            <a:ext cx="438912" cy="43891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3428999"/>
            <a:ext cx="438912" cy="347472"/>
          </a:xfrm>
          <a:prstGeom prst="rect">
            <a:avLst/>
          </a:prstGeom>
          <a:noFill/>
        </p:spPr>
        <p:txBody>
          <a:bodyPr wrap="square" lIns="0" rIns="0" tIns="0" bIns="0"/>
          <a:lstStyle/>
          <a:p>
            <a:pPr algn="ctr">
              <a:lnSpc>
                <a:spcPct val="105000"/>
              </a:lnSpc>
              <a:spcBef>
                <a:spcPts val="0"/>
              </a:spcBef>
              <a:spcAft>
                <a:spcPts val="200"/>
              </a:spcAft>
            </a:pPr>
            <a:r>
              <a:rPr sz="1600" b="1">
                <a:solidFill>
                  <a:srgbClr val="FFFFFF"/>
                </a:solidFill>
                <a:latin typeface="Calibri"/>
                <a:ea typeface="Calibri"/>
                <a:cs typeface="Calibri"/>
              </a:rPr>
              <a:t>3</a:t>
            </a:r>
          </a:p>
        </p:txBody>
      </p:sp>
      <p:sp>
        <p:nvSpPr>
          <p:cNvPr id="20" name="TextBox 19"/>
          <p:cNvSpPr txBox="1"/>
          <p:nvPr/>
        </p:nvSpPr>
        <p:spPr>
          <a:xfrm>
            <a:off x="960120" y="3374135"/>
            <a:ext cx="6126480" cy="256032"/>
          </a:xfrm>
          <a:prstGeom prst="rect">
            <a:avLst/>
          </a:prstGeom>
          <a:noFill/>
        </p:spPr>
        <p:txBody>
          <a:bodyPr wrap="square" lIns="0" rIns="0" tIns="0" bIns="0"/>
          <a:lstStyle/>
          <a:p>
            <a:pPr algn="l">
              <a:lnSpc>
                <a:spcPct val="105000"/>
              </a:lnSpc>
              <a:spcBef>
                <a:spcPts val="0"/>
              </a:spcBef>
              <a:spcAft>
                <a:spcPts val="200"/>
              </a:spcAft>
            </a:pPr>
            <a:r>
              <a:rPr sz="1500" b="1">
                <a:solidFill>
                  <a:srgbClr val="1A1A1A"/>
                </a:solidFill>
                <a:latin typeface="Calibri"/>
                <a:ea typeface="Calibri"/>
                <a:cs typeface="Calibri"/>
              </a:rPr>
              <a:t>The demo</a:t>
            </a:r>
          </a:p>
        </p:txBody>
      </p:sp>
      <p:sp>
        <p:nvSpPr>
          <p:cNvPr id="21" name="TextBox 20"/>
          <p:cNvSpPr txBox="1"/>
          <p:nvPr/>
        </p:nvSpPr>
        <p:spPr>
          <a:xfrm>
            <a:off x="960120" y="3648455"/>
            <a:ext cx="612648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Screen 1, then 2, then 3. What the assistant does, and what the RM still decides.</a:t>
            </a:r>
          </a:p>
        </p:txBody>
      </p:sp>
      <p:sp>
        <p:nvSpPr>
          <p:cNvPr id="22" name="Rectangle 21"/>
          <p:cNvSpPr/>
          <p:nvPr/>
        </p:nvSpPr>
        <p:spPr>
          <a:xfrm>
            <a:off x="384048" y="4032503"/>
            <a:ext cx="438912" cy="43891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4087367"/>
            <a:ext cx="438912" cy="347472"/>
          </a:xfrm>
          <a:prstGeom prst="rect">
            <a:avLst/>
          </a:prstGeom>
          <a:noFill/>
        </p:spPr>
        <p:txBody>
          <a:bodyPr wrap="square" lIns="0" rIns="0" tIns="0" bIns="0"/>
          <a:lstStyle/>
          <a:p>
            <a:pPr algn="ctr">
              <a:lnSpc>
                <a:spcPct val="105000"/>
              </a:lnSpc>
              <a:spcBef>
                <a:spcPts val="0"/>
              </a:spcBef>
              <a:spcAft>
                <a:spcPts val="200"/>
              </a:spcAft>
            </a:pPr>
            <a:r>
              <a:rPr sz="1600" b="1">
                <a:solidFill>
                  <a:srgbClr val="FFFFFF"/>
                </a:solidFill>
                <a:latin typeface="Calibri"/>
                <a:ea typeface="Calibri"/>
                <a:cs typeface="Calibri"/>
              </a:rPr>
              <a:t>4</a:t>
            </a:r>
          </a:p>
        </p:txBody>
      </p:sp>
      <p:sp>
        <p:nvSpPr>
          <p:cNvPr id="24" name="TextBox 23"/>
          <p:cNvSpPr txBox="1"/>
          <p:nvPr/>
        </p:nvSpPr>
        <p:spPr>
          <a:xfrm>
            <a:off x="960120" y="4032503"/>
            <a:ext cx="6126480" cy="256032"/>
          </a:xfrm>
          <a:prstGeom prst="rect">
            <a:avLst/>
          </a:prstGeom>
          <a:noFill/>
        </p:spPr>
        <p:txBody>
          <a:bodyPr wrap="square" lIns="0" rIns="0" tIns="0" bIns="0"/>
          <a:lstStyle/>
          <a:p>
            <a:pPr algn="l">
              <a:lnSpc>
                <a:spcPct val="105000"/>
              </a:lnSpc>
              <a:spcBef>
                <a:spcPts val="0"/>
              </a:spcBef>
              <a:spcAft>
                <a:spcPts val="200"/>
              </a:spcAft>
            </a:pPr>
            <a:r>
              <a:rPr sz="1500" b="1">
                <a:solidFill>
                  <a:srgbClr val="1A1A1A"/>
                </a:solidFill>
                <a:latin typeface="Calibri"/>
                <a:ea typeface="Calibri"/>
                <a:cs typeface="Calibri"/>
              </a:rPr>
              <a:t>The benefit</a:t>
            </a:r>
          </a:p>
        </p:txBody>
      </p:sp>
      <p:sp>
        <p:nvSpPr>
          <p:cNvPr id="25" name="TextBox 24"/>
          <p:cNvSpPr txBox="1"/>
          <p:nvPr/>
        </p:nvSpPr>
        <p:spPr>
          <a:xfrm>
            <a:off x="960120" y="4306823"/>
            <a:ext cx="612648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One change for the RM or the client. Then stop.</a:t>
            </a:r>
          </a:p>
        </p:txBody>
      </p:sp>
      <p:sp>
        <p:nvSpPr>
          <p:cNvPr id="26" name="TextBox 25"/>
          <p:cNvSpPr txBox="1"/>
          <p:nvPr/>
        </p:nvSpPr>
        <p:spPr>
          <a:xfrm>
            <a:off x="384048" y="4754880"/>
            <a:ext cx="6784848" cy="274320"/>
          </a:xfrm>
          <a:prstGeom prst="rect">
            <a:avLst/>
          </a:prstGeom>
          <a:noFill/>
        </p:spPr>
        <p:txBody>
          <a:bodyPr wrap="square" lIns="0" rIns="0" tIns="0" bIns="0"/>
          <a:lstStyle/>
          <a:p>
            <a:pPr algn="l">
              <a:lnSpc>
                <a:spcPct val="105000"/>
              </a:lnSpc>
              <a:spcBef>
                <a:spcPts val="0"/>
              </a:spcBef>
              <a:spcAft>
                <a:spcPts val="200"/>
              </a:spcAft>
            </a:pPr>
            <a:r>
              <a:rPr sz="1600" b="1">
                <a:solidFill>
                  <a:srgbClr val="1A1A1A"/>
                </a:solidFill>
                <a:latin typeface="Calibri"/>
                <a:ea typeface="Calibri"/>
                <a:cs typeface="Calibri"/>
              </a:rPr>
              <a:t>Tally, while they talk</a:t>
            </a:r>
          </a:p>
        </p:txBody>
      </p:sp>
      <p:sp>
        <p:nvSpPr>
          <p:cNvPr id="27" name="TextBox 26"/>
          <p:cNvSpPr txBox="1"/>
          <p:nvPr/>
        </p:nvSpPr>
        <p:spPr>
          <a:xfrm>
            <a:off x="384048" y="5047488"/>
            <a:ext cx="6784848" cy="365760"/>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One mark per group. Write the agent name in the margin if you can hear it. This is the page you close on.</a:t>
            </a:r>
          </a:p>
        </p:txBody>
      </p:sp>
      <p:sp>
        <p:nvSpPr>
          <p:cNvPr id="28" name="Rectangle 27"/>
          <p:cNvSpPr/>
          <p:nvPr/>
        </p:nvSpPr>
        <p:spPr>
          <a:xfrm>
            <a:off x="384048" y="5486400"/>
            <a:ext cx="6784848"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 y="5532120"/>
            <a:ext cx="4846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01  Unclear client priorities</a:t>
            </a:r>
          </a:p>
        </p:txBody>
      </p:sp>
      <p:sp>
        <p:nvSpPr>
          <p:cNvPr id="30" name="TextBox 29"/>
          <p:cNvSpPr txBox="1"/>
          <p:nvPr/>
        </p:nvSpPr>
        <p:spPr>
          <a:xfrm>
            <a:off x="5394960" y="5532120"/>
            <a:ext cx="1645920" cy="256032"/>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 □ □ □ □ □ □ □ □ □</a:t>
            </a:r>
          </a:p>
        </p:txBody>
      </p:sp>
      <p:sp>
        <p:nvSpPr>
          <p:cNvPr id="31" name="Rectangle 30"/>
          <p:cNvSpPr/>
          <p:nvPr/>
        </p:nvSpPr>
        <p:spPr>
          <a:xfrm>
            <a:off x="384048" y="5833872"/>
            <a:ext cx="6784848"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5488" y="5879592"/>
            <a:ext cx="4846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02  Scattered information, lengthy preparation</a:t>
            </a:r>
          </a:p>
        </p:txBody>
      </p:sp>
      <p:sp>
        <p:nvSpPr>
          <p:cNvPr id="33" name="TextBox 32"/>
          <p:cNvSpPr txBox="1"/>
          <p:nvPr/>
        </p:nvSpPr>
        <p:spPr>
          <a:xfrm>
            <a:off x="5394960" y="5879592"/>
            <a:ext cx="1645920" cy="256032"/>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 □ □ □ □ □ □ □ □ □</a:t>
            </a:r>
          </a:p>
        </p:txBody>
      </p:sp>
      <p:sp>
        <p:nvSpPr>
          <p:cNvPr id="34" name="Rectangle 33"/>
          <p:cNvSpPr/>
          <p:nvPr/>
        </p:nvSpPr>
        <p:spPr>
          <a:xfrm>
            <a:off x="384048" y="6181344"/>
            <a:ext cx="6784848"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 y="6227064"/>
            <a:ext cx="4846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03  Too much to juggle in meetings</a:t>
            </a:r>
          </a:p>
        </p:txBody>
      </p:sp>
      <p:sp>
        <p:nvSpPr>
          <p:cNvPr id="36" name="TextBox 35"/>
          <p:cNvSpPr txBox="1"/>
          <p:nvPr/>
        </p:nvSpPr>
        <p:spPr>
          <a:xfrm>
            <a:off x="5394960" y="6227064"/>
            <a:ext cx="1645920" cy="256032"/>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 □ □ □ □ □ □ □ □ □</a:t>
            </a:r>
          </a:p>
        </p:txBody>
      </p:sp>
      <p:sp>
        <p:nvSpPr>
          <p:cNvPr id="37" name="Rectangle 36"/>
          <p:cNvSpPr/>
          <p:nvPr/>
        </p:nvSpPr>
        <p:spPr>
          <a:xfrm>
            <a:off x="384048" y="6528816"/>
            <a:ext cx="6784848"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8" y="6574536"/>
            <a:ext cx="4846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04  Competing client goals</a:t>
            </a:r>
          </a:p>
        </p:txBody>
      </p:sp>
      <p:sp>
        <p:nvSpPr>
          <p:cNvPr id="39" name="TextBox 38"/>
          <p:cNvSpPr txBox="1"/>
          <p:nvPr/>
        </p:nvSpPr>
        <p:spPr>
          <a:xfrm>
            <a:off x="5394960" y="6574536"/>
            <a:ext cx="1645920" cy="256032"/>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 □ □ □ □ □ □ □ □ □</a:t>
            </a:r>
          </a:p>
        </p:txBody>
      </p:sp>
      <p:sp>
        <p:nvSpPr>
          <p:cNvPr id="40" name="Rectangle 39"/>
          <p:cNvSpPr/>
          <p:nvPr/>
        </p:nvSpPr>
        <p:spPr>
          <a:xfrm>
            <a:off x="384048" y="6876288"/>
            <a:ext cx="6784848"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488" y="6922007"/>
            <a:ext cx="4846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05  Lengthy comparisons and explanations</a:t>
            </a:r>
          </a:p>
        </p:txBody>
      </p:sp>
      <p:sp>
        <p:nvSpPr>
          <p:cNvPr id="42" name="TextBox 41"/>
          <p:cNvSpPr txBox="1"/>
          <p:nvPr/>
        </p:nvSpPr>
        <p:spPr>
          <a:xfrm>
            <a:off x="5394960" y="6922007"/>
            <a:ext cx="1645920" cy="256032"/>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 □ □ □ □ □ □ □ □ □</a:t>
            </a:r>
          </a:p>
        </p:txBody>
      </p:sp>
      <p:sp>
        <p:nvSpPr>
          <p:cNvPr id="43" name="Rectangle 42"/>
          <p:cNvSpPr/>
          <p:nvPr/>
        </p:nvSpPr>
        <p:spPr>
          <a:xfrm>
            <a:off x="384048" y="7223759"/>
            <a:ext cx="6784848"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5488" y="7269479"/>
            <a:ext cx="4846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06  Lengthy onboarding, KYC and EDD</a:t>
            </a:r>
          </a:p>
        </p:txBody>
      </p:sp>
      <p:sp>
        <p:nvSpPr>
          <p:cNvPr id="45" name="TextBox 44"/>
          <p:cNvSpPr txBox="1"/>
          <p:nvPr/>
        </p:nvSpPr>
        <p:spPr>
          <a:xfrm>
            <a:off x="5394960" y="7269479"/>
            <a:ext cx="1645920" cy="256032"/>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 □ □ □ □ □ □ □ □ □</a:t>
            </a:r>
          </a:p>
        </p:txBody>
      </p:sp>
      <p:sp>
        <p:nvSpPr>
          <p:cNvPr id="46" name="Rectangle 45"/>
          <p:cNvSpPr/>
          <p:nvPr/>
        </p:nvSpPr>
        <p:spPr>
          <a:xfrm>
            <a:off x="384048" y="7571231"/>
            <a:ext cx="6784848"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5488" y="7616952"/>
            <a:ext cx="4846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07  Lengthy discount and bespoke approvals</a:t>
            </a:r>
          </a:p>
        </p:txBody>
      </p:sp>
      <p:sp>
        <p:nvSpPr>
          <p:cNvPr id="48" name="TextBox 47"/>
          <p:cNvSpPr txBox="1"/>
          <p:nvPr/>
        </p:nvSpPr>
        <p:spPr>
          <a:xfrm>
            <a:off x="5394960" y="7616952"/>
            <a:ext cx="1645920" cy="256032"/>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 □ □ □ □ □ □ □ □ □</a:t>
            </a:r>
          </a:p>
        </p:txBody>
      </p:sp>
      <p:sp>
        <p:nvSpPr>
          <p:cNvPr id="49" name="Rectangle 48"/>
          <p:cNvSpPr/>
          <p:nvPr/>
        </p:nvSpPr>
        <p:spPr>
          <a:xfrm>
            <a:off x="384048" y="7918704"/>
            <a:ext cx="6784848"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75488" y="7964424"/>
            <a:ext cx="4846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08  Complex cross-border requirements</a:t>
            </a:r>
          </a:p>
        </p:txBody>
      </p:sp>
      <p:sp>
        <p:nvSpPr>
          <p:cNvPr id="51" name="TextBox 50"/>
          <p:cNvSpPr txBox="1"/>
          <p:nvPr/>
        </p:nvSpPr>
        <p:spPr>
          <a:xfrm>
            <a:off x="5394960" y="7964424"/>
            <a:ext cx="1645920" cy="256032"/>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 □ □ □ □ □ □ □ □ □</a:t>
            </a:r>
          </a:p>
        </p:txBody>
      </p:sp>
      <p:sp>
        <p:nvSpPr>
          <p:cNvPr id="52" name="Rectangle 51"/>
          <p:cNvSpPr/>
          <p:nvPr/>
        </p:nvSpPr>
        <p:spPr>
          <a:xfrm>
            <a:off x="384048" y="8266176"/>
            <a:ext cx="6784848" cy="347472"/>
          </a:xfrm>
          <a:prstGeom prst="rect">
            <a:avLst/>
          </a:prstGeom>
          <a:solidFill>
            <a:srgbClr val="F8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5488" y="8311896"/>
            <a:ext cx="4846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09  Market news and in-house insights overload</a:t>
            </a:r>
          </a:p>
        </p:txBody>
      </p:sp>
      <p:sp>
        <p:nvSpPr>
          <p:cNvPr id="54" name="TextBox 53"/>
          <p:cNvSpPr txBox="1"/>
          <p:nvPr/>
        </p:nvSpPr>
        <p:spPr>
          <a:xfrm>
            <a:off x="5394960" y="8311896"/>
            <a:ext cx="1645920" cy="256032"/>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 □ □ □ □ □ □ □ □ □</a:t>
            </a:r>
          </a:p>
        </p:txBody>
      </p:sp>
      <p:sp>
        <p:nvSpPr>
          <p:cNvPr id="55" name="Rectangle 54"/>
          <p:cNvSpPr/>
          <p:nvPr/>
        </p:nvSpPr>
        <p:spPr>
          <a:xfrm>
            <a:off x="384048" y="8613648"/>
            <a:ext cx="6784848"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5488" y="8659368"/>
            <a:ext cx="4846320" cy="256032"/>
          </a:xfrm>
          <a:prstGeom prst="rect">
            <a:avLst/>
          </a:prstGeom>
          <a:noFill/>
        </p:spPr>
        <p:txBody>
          <a:bodyPr wrap="square" lIns="0" rIns="0" tIns="0" bIns="0"/>
          <a:lstStyle/>
          <a:p>
            <a:pPr algn="l">
              <a:lnSpc>
                <a:spcPct val="105000"/>
              </a:lnSpc>
              <a:spcBef>
                <a:spcPts val="0"/>
              </a:spcBef>
              <a:spcAft>
                <a:spcPts val="200"/>
              </a:spcAft>
            </a:pPr>
            <a:r>
              <a:rPr sz="1300" b="0">
                <a:solidFill>
                  <a:srgbClr val="1A1A1A"/>
                </a:solidFill>
                <a:latin typeface="Calibri"/>
                <a:ea typeface="Calibri"/>
                <a:cs typeface="Calibri"/>
              </a:rPr>
              <a:t>Own  They wrote their own</a:t>
            </a:r>
          </a:p>
        </p:txBody>
      </p:sp>
      <p:sp>
        <p:nvSpPr>
          <p:cNvPr id="57" name="TextBox 56"/>
          <p:cNvSpPr txBox="1"/>
          <p:nvPr/>
        </p:nvSpPr>
        <p:spPr>
          <a:xfrm>
            <a:off x="5394960" y="8659368"/>
            <a:ext cx="1645920" cy="256032"/>
          </a:xfrm>
          <a:prstGeom prst="rect">
            <a:avLst/>
          </a:prstGeom>
          <a:noFill/>
        </p:spPr>
        <p:txBody>
          <a:bodyPr wrap="square" lIns="0" rIns="0" tIns="0" bIns="0"/>
          <a:lstStyle/>
          <a:p>
            <a:pPr algn="l">
              <a:lnSpc>
                <a:spcPct val="105000"/>
              </a:lnSpc>
              <a:spcBef>
                <a:spcPts val="0"/>
              </a:spcBef>
              <a:spcAft>
                <a:spcPts val="200"/>
              </a:spcAft>
            </a:pPr>
            <a:r>
              <a:rPr sz="1200" b="0">
                <a:solidFill>
                  <a:srgbClr val="4A4A4A"/>
                </a:solidFill>
                <a:latin typeface="Calibri"/>
                <a:ea typeface="Calibri"/>
                <a:cs typeface="Calibri"/>
              </a:rPr>
              <a:t>□ □ □ □ □ □ □ □ □ □</a:t>
            </a:r>
          </a:p>
        </p:txBody>
      </p:sp>
      <p:sp>
        <p:nvSpPr>
          <p:cNvPr id="58" name="TextBox 57"/>
          <p:cNvSpPr txBox="1"/>
          <p:nvPr/>
        </p:nvSpPr>
        <p:spPr>
          <a:xfrm>
            <a:off x="384048" y="9098280"/>
            <a:ext cx="6784848" cy="1051560"/>
          </a:xfrm>
          <a:prstGeom prst="rect">
            <a:avLst/>
          </a:prstGeom>
          <a:noFill/>
        </p:spPr>
        <p:txBody>
          <a:bodyPr wrap="square" lIns="0" rIns="0" tIns="0" bIns="0"/>
          <a:lstStyle/>
          <a:p>
            <a:pPr algn="l">
              <a:lnSpc>
                <a:spcPct val="105000"/>
              </a:lnSpc>
              <a:spcBef>
                <a:spcPts val="0"/>
              </a:spcBef>
              <a:spcAft>
                <a:spcPts val="400"/>
              </a:spcAft>
            </a:pPr>
            <a:r>
              <a:rPr sz="1600" b="1">
                <a:solidFill>
                  <a:srgbClr val="1A1A1A"/>
                </a:solidFill>
                <a:latin typeface="Calibri"/>
                <a:ea typeface="Calibri"/>
                <a:cs typeface="Calibri"/>
              </a:rPr>
              <a:t>The close, after the last group</a:t>
            </a:r>
          </a:p>
          <a:p>
            <a:pPr algn="l">
              <a:lnSpc>
                <a:spcPct val="105000"/>
              </a:lnSpc>
              <a:spcBef>
                <a:spcPts val="0"/>
              </a:spcBef>
              <a:spcAft>
                <a:spcPts val="200"/>
              </a:spcAft>
            </a:pPr>
            <a:r>
              <a:rPr sz="1400" b="0">
                <a:solidFill>
                  <a:srgbClr val="1A1A1A"/>
                </a:solidFill>
                <a:latin typeface="Calibri"/>
                <a:ea typeface="Calibri"/>
                <a:cs typeface="Calibri"/>
              </a:rPr>
              <a:t>Read what the marks show. “Preparation came up four times. The meeting itself came up three. Two groups wrote their own.” Then stop. Do not award a winner, and do not promise which agent will get built.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1068933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256032"/>
            <a:ext cx="5120640" cy="256032"/>
          </a:xfrm>
          <a:prstGeom prst="rect">
            <a:avLst/>
          </a:prstGeom>
          <a:noFill/>
        </p:spPr>
        <p:txBody>
          <a:bodyPr wrap="square" lIns="0" rIns="0" tIns="0" bIns="0"/>
          <a:lstStyle/>
          <a:p>
            <a:pPr algn="l">
              <a:lnSpc>
                <a:spcPct val="105000"/>
              </a:lnSpc>
              <a:spcBef>
                <a:spcPts val="0"/>
              </a:spcBef>
              <a:spcAft>
                <a:spcPts val="200"/>
              </a:spcAft>
            </a:pPr>
            <a:r>
              <a:rPr sz="1100" b="1">
                <a:solidFill>
                  <a:srgbClr val="DB0011"/>
                </a:solidFill>
                <a:latin typeface="Calibri"/>
                <a:ea typeface="Calibri"/>
                <a:cs typeface="Calibri"/>
              </a:rPr>
              <a:t>WEALTH SYMPOSIUM  ·  FACILITATOR GUIDE</a:t>
            </a:r>
          </a:p>
        </p:txBody>
      </p:sp>
      <p:sp>
        <p:nvSpPr>
          <p:cNvPr id="5" name="TextBox 4"/>
          <p:cNvSpPr txBox="1"/>
          <p:nvPr/>
        </p:nvSpPr>
        <p:spPr>
          <a:xfrm>
            <a:off x="5029200" y="256032"/>
            <a:ext cx="2148840" cy="256032"/>
          </a:xfrm>
          <a:prstGeom prst="rect">
            <a:avLst/>
          </a:prstGeom>
          <a:noFill/>
        </p:spPr>
        <p:txBody>
          <a:bodyPr wrap="square" lIns="0" rIns="0" tIns="0" bIns="0"/>
          <a:lstStyle/>
          <a:p>
            <a:pPr algn="r">
              <a:lnSpc>
                <a:spcPct val="105000"/>
              </a:lnSpc>
              <a:spcBef>
                <a:spcPts val="0"/>
              </a:spcBef>
              <a:spcAft>
                <a:spcPts val="200"/>
              </a:spcAft>
            </a:pPr>
            <a:r>
              <a:rPr sz="1100" b="0">
                <a:solidFill>
                  <a:srgbClr val="4A4A4A"/>
                </a:solidFill>
                <a:latin typeface="Calibri"/>
                <a:ea typeface="Calibri"/>
                <a:cs typeface="Calibri"/>
              </a:rPr>
              <a:t>06  If it breaks</a:t>
            </a:r>
          </a:p>
        </p:txBody>
      </p:sp>
      <p:sp>
        <p:nvSpPr>
          <p:cNvPr id="6" name="Rectangle 5"/>
          <p:cNvSpPr/>
          <p:nvPr/>
        </p:nvSpPr>
        <p:spPr>
          <a:xfrm>
            <a:off x="384048" y="566928"/>
            <a:ext cx="6784848" cy="13716"/>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0314432"/>
            <a:ext cx="6784848" cy="219456"/>
          </a:xfrm>
          <a:prstGeom prst="rect">
            <a:avLst/>
          </a:prstGeom>
          <a:noFill/>
        </p:spPr>
        <p:txBody>
          <a:bodyPr wrap="square" lIns="0" rIns="0" tIns="0" bIns="0"/>
          <a:lstStyle/>
          <a:p>
            <a:pPr algn="l">
              <a:lnSpc>
                <a:spcPct val="105000"/>
              </a:lnSpc>
              <a:spcBef>
                <a:spcPts val="0"/>
              </a:spcBef>
              <a:spcAft>
                <a:spcPts val="200"/>
              </a:spcAft>
            </a:pPr>
            <a:r>
              <a:rPr sz="1000" b="0">
                <a:solidFill>
                  <a:srgbClr val="4A4A4A"/>
                </a:solidFill>
                <a:latin typeface="Calibri"/>
                <a:ea typeface="Calibri"/>
                <a:cs typeface="Calibri"/>
              </a:rPr>
              <a:t>AI Powered, Human Led  ·  Do not hand this sheet to the groups</a:t>
            </a:r>
          </a:p>
        </p:txBody>
      </p:sp>
      <p:sp>
        <p:nvSpPr>
          <p:cNvPr id="8" name="TextBox 7"/>
          <p:cNvSpPr txBox="1"/>
          <p:nvPr/>
        </p:nvSpPr>
        <p:spPr>
          <a:xfrm>
            <a:off x="384048" y="713232"/>
            <a:ext cx="6784848" cy="384048"/>
          </a:xfrm>
          <a:prstGeom prst="rect">
            <a:avLst/>
          </a:prstGeom>
          <a:noFill/>
        </p:spPr>
        <p:txBody>
          <a:bodyPr wrap="square" lIns="0" rIns="0" tIns="0" bIns="0"/>
          <a:lstStyle/>
          <a:p>
            <a:pPr algn="l">
              <a:lnSpc>
                <a:spcPct val="105000"/>
              </a:lnSpc>
              <a:spcBef>
                <a:spcPts val="0"/>
              </a:spcBef>
              <a:spcAft>
                <a:spcPts val="200"/>
              </a:spcAft>
            </a:pPr>
            <a:r>
              <a:rPr sz="2600" b="1">
                <a:solidFill>
                  <a:srgbClr val="1A1A1A"/>
                </a:solidFill>
                <a:latin typeface="Calibri"/>
                <a:ea typeface="Calibri"/>
                <a:cs typeface="Calibri"/>
              </a:rPr>
              <a:t>Recover quietly.</a:t>
            </a:r>
          </a:p>
        </p:txBody>
      </p:sp>
      <p:sp>
        <p:nvSpPr>
          <p:cNvPr id="9" name="TextBox 8"/>
          <p:cNvSpPr txBox="1"/>
          <p:nvPr/>
        </p:nvSpPr>
        <p:spPr>
          <a:xfrm>
            <a:off x="384048" y="1143000"/>
            <a:ext cx="6784848" cy="502920"/>
          </a:xfrm>
          <a:prstGeom prst="rect">
            <a:avLst/>
          </a:prstGeom>
          <a:noFill/>
        </p:spPr>
        <p:txBody>
          <a:bodyPr wrap="square" lIns="0" rIns="0" tIns="0" bIns="0"/>
          <a:lstStyle/>
          <a:p>
            <a:pPr algn="l">
              <a:lnSpc>
                <a:spcPct val="105000"/>
              </a:lnSpc>
              <a:spcBef>
                <a:spcPts val="0"/>
              </a:spcBef>
              <a:spcAft>
                <a:spcPts val="200"/>
              </a:spcAft>
            </a:pPr>
            <a:r>
              <a:rPr sz="1400" b="0">
                <a:solidFill>
                  <a:srgbClr val="4A4A4A"/>
                </a:solidFill>
                <a:latin typeface="Calibri"/>
                <a:ea typeface="Calibri"/>
                <a:cs typeface="Calibri"/>
              </a:rPr>
              <a:t>Groups should not see the debug menu. Double-click the words Wealth Symposium only on your own laptop, and only if you need it.</a:t>
            </a:r>
          </a:p>
        </p:txBody>
      </p:sp>
      <p:sp>
        <p:nvSpPr>
          <p:cNvPr id="10" name="TextBox 9"/>
          <p:cNvSpPr txBox="1"/>
          <p:nvPr/>
        </p:nvSpPr>
        <p:spPr>
          <a:xfrm>
            <a:off x="384048" y="1783080"/>
            <a:ext cx="6784848" cy="237744"/>
          </a:xfrm>
          <a:prstGeom prst="rect">
            <a:avLst/>
          </a:prstGeom>
          <a:noFill/>
        </p:spPr>
        <p:txBody>
          <a:bodyPr wrap="square" lIns="0" rIns="0" tIns="0" bIns="0"/>
          <a:lstStyle/>
          <a:p>
            <a:pPr algn="l">
              <a:lnSpc>
                <a:spcPct val="105000"/>
              </a:lnSpc>
              <a:spcBef>
                <a:spcPts val="0"/>
              </a:spcBef>
              <a:spcAft>
                <a:spcPts val="200"/>
              </a:spcAft>
            </a:pPr>
            <a:r>
              <a:rPr sz="1400" b="1">
                <a:solidFill>
                  <a:srgbClr val="1A1A1A"/>
                </a:solidFill>
                <a:latin typeface="Calibri"/>
                <a:ea typeface="Calibri"/>
                <a:cs typeface="Calibri"/>
              </a:rPr>
              <a:t>Resume is showing and they have not started</a:t>
            </a:r>
          </a:p>
        </p:txBody>
      </p:sp>
      <p:sp>
        <p:nvSpPr>
          <p:cNvPr id="11" name="TextBox 10"/>
          <p:cNvSpPr txBox="1"/>
          <p:nvPr/>
        </p:nvSpPr>
        <p:spPr>
          <a:xfrm>
            <a:off x="384048" y="2020824"/>
            <a:ext cx="6784848" cy="43891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Someone opened this laptop earlier. Press Start fresh before the group sits down. Say nothing about it.</a:t>
            </a:r>
          </a:p>
        </p:txBody>
      </p:sp>
      <p:sp>
        <p:nvSpPr>
          <p:cNvPr id="12" name="TextBox 11"/>
          <p:cNvSpPr txBox="1"/>
          <p:nvPr/>
        </p:nvSpPr>
        <p:spPr>
          <a:xfrm>
            <a:off x="384048" y="2532888"/>
            <a:ext cx="6784848" cy="237744"/>
          </a:xfrm>
          <a:prstGeom prst="rect">
            <a:avLst/>
          </a:prstGeom>
          <a:noFill/>
        </p:spPr>
        <p:txBody>
          <a:bodyPr wrap="square" lIns="0" rIns="0" tIns="0" bIns="0"/>
          <a:lstStyle/>
          <a:p>
            <a:pPr algn="l">
              <a:lnSpc>
                <a:spcPct val="105000"/>
              </a:lnSpc>
              <a:spcBef>
                <a:spcPts val="0"/>
              </a:spcBef>
              <a:spcAft>
                <a:spcPts val="200"/>
              </a:spcAft>
            </a:pPr>
            <a:r>
              <a:rPr sz="1400" b="1">
                <a:solidFill>
                  <a:srgbClr val="1A1A1A"/>
                </a:solidFill>
                <a:latin typeface="Calibri"/>
                <a:ea typeface="Calibri"/>
                <a:cs typeface="Calibri"/>
              </a:rPr>
              <a:t>The page froze or they refreshed</a:t>
            </a:r>
          </a:p>
        </p:txBody>
      </p:sp>
      <p:sp>
        <p:nvSpPr>
          <p:cNvPr id="13" name="TextBox 12"/>
          <p:cNvSpPr txBox="1"/>
          <p:nvPr/>
        </p:nvSpPr>
        <p:spPr>
          <a:xfrm>
            <a:off x="384048" y="2770632"/>
            <a:ext cx="6784848" cy="43891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Press Resume. Not Start fresh. Start fresh clears the pain, the brief, the screens, and the demo.</a:t>
            </a:r>
          </a:p>
        </p:txBody>
      </p:sp>
      <p:sp>
        <p:nvSpPr>
          <p:cNvPr id="14" name="TextBox 13"/>
          <p:cNvSpPr txBox="1"/>
          <p:nvPr/>
        </p:nvSpPr>
        <p:spPr>
          <a:xfrm>
            <a:off x="384048" y="3282696"/>
            <a:ext cx="6784848" cy="237744"/>
          </a:xfrm>
          <a:prstGeom prst="rect">
            <a:avLst/>
          </a:prstGeom>
          <a:noFill/>
        </p:spPr>
        <p:txBody>
          <a:bodyPr wrap="square" lIns="0" rIns="0" tIns="0" bIns="0"/>
          <a:lstStyle/>
          <a:p>
            <a:pPr algn="l">
              <a:lnSpc>
                <a:spcPct val="105000"/>
              </a:lnSpc>
              <a:spcBef>
                <a:spcPts val="0"/>
              </a:spcBef>
              <a:spcAft>
                <a:spcPts val="200"/>
              </a:spcAft>
            </a:pPr>
            <a:r>
              <a:rPr sz="1400" b="1">
                <a:solidFill>
                  <a:srgbClr val="1A1A1A"/>
                </a:solidFill>
                <a:latin typeface="Calibri"/>
                <a:ea typeface="Calibri"/>
                <a:cs typeface="Calibri"/>
              </a:rPr>
              <a:t>Next is grey on the screens</a:t>
            </a:r>
          </a:p>
        </p:txBody>
      </p:sp>
      <p:sp>
        <p:nvSpPr>
          <p:cNvPr id="15" name="TextBox 14"/>
          <p:cNvSpPr txBox="1"/>
          <p:nvPr/>
        </p:nvSpPr>
        <p:spPr>
          <a:xfrm>
            <a:off x="384048" y="3520439"/>
            <a:ext cx="6784848" cy="43891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A picture is missing, or a prompt was edited after the picture was made. Hover that picture and press Generate screen again. Only that one.</a:t>
            </a:r>
          </a:p>
        </p:txBody>
      </p:sp>
      <p:sp>
        <p:nvSpPr>
          <p:cNvPr id="16" name="TextBox 15"/>
          <p:cNvSpPr txBox="1"/>
          <p:nvPr/>
        </p:nvSpPr>
        <p:spPr>
          <a:xfrm>
            <a:off x="384048" y="4032504"/>
            <a:ext cx="6784848" cy="237744"/>
          </a:xfrm>
          <a:prstGeom prst="rect">
            <a:avLst/>
          </a:prstGeom>
          <a:noFill/>
        </p:spPr>
        <p:txBody>
          <a:bodyPr wrap="square" lIns="0" rIns="0" tIns="0" bIns="0"/>
          <a:lstStyle/>
          <a:p>
            <a:pPr algn="l">
              <a:lnSpc>
                <a:spcPct val="105000"/>
              </a:lnSpc>
              <a:spcBef>
                <a:spcPts val="0"/>
              </a:spcBef>
              <a:spcAft>
                <a:spcPts val="200"/>
              </a:spcAft>
            </a:pPr>
            <a:r>
              <a:rPr sz="1400" b="1">
                <a:solidFill>
                  <a:srgbClr val="1A1A1A"/>
                </a:solidFill>
                <a:latin typeface="Calibri"/>
                <a:ea typeface="Calibri"/>
                <a:cs typeface="Calibri"/>
              </a:rPr>
              <a:t>The picture failed</a:t>
            </a:r>
          </a:p>
        </p:txBody>
      </p:sp>
      <p:sp>
        <p:nvSpPr>
          <p:cNvPr id="17" name="TextBox 16"/>
          <p:cNvSpPr txBox="1"/>
          <p:nvPr/>
        </p:nvSpPr>
        <p:spPr>
          <a:xfrm>
            <a:off x="384048" y="4270248"/>
            <a:ext cx="6784848" cy="43891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Stay on the page and press Generate screen again. Don't rewrite the whole story because one image failed.</a:t>
            </a:r>
          </a:p>
        </p:txBody>
      </p:sp>
      <p:sp>
        <p:nvSpPr>
          <p:cNvPr id="18" name="TextBox 17"/>
          <p:cNvSpPr txBox="1"/>
          <p:nvPr/>
        </p:nvSpPr>
        <p:spPr>
          <a:xfrm>
            <a:off x="384048" y="4782312"/>
            <a:ext cx="6784848" cy="237744"/>
          </a:xfrm>
          <a:prstGeom prst="rect">
            <a:avLst/>
          </a:prstGeom>
          <a:noFill/>
        </p:spPr>
        <p:txBody>
          <a:bodyPr wrap="square" lIns="0" rIns="0" tIns="0" bIns="0"/>
          <a:lstStyle/>
          <a:p>
            <a:pPr algn="l">
              <a:lnSpc>
                <a:spcPct val="105000"/>
              </a:lnSpc>
              <a:spcBef>
                <a:spcPts val="0"/>
              </a:spcBef>
              <a:spcAft>
                <a:spcPts val="200"/>
              </a:spcAft>
            </a:pPr>
            <a:r>
              <a:rPr sz="1400" b="1">
                <a:solidFill>
                  <a:srgbClr val="1A1A1A"/>
                </a:solidFill>
                <a:latin typeface="Calibri"/>
                <a:ea typeface="Calibri"/>
                <a:cs typeface="Calibri"/>
              </a:rPr>
              <a:t>The demo is taking a while</a:t>
            </a:r>
          </a:p>
        </p:txBody>
      </p:sp>
      <p:sp>
        <p:nvSpPr>
          <p:cNvPr id="19" name="TextBox 18"/>
          <p:cNvSpPr txBox="1"/>
          <p:nvPr/>
        </p:nvSpPr>
        <p:spPr>
          <a:xfrm>
            <a:off x="384048" y="5020056"/>
            <a:ext cx="6784848" cy="43891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That is normal. It writes one screen, then the next. Ask them what they will say for Screen 1 while they wait. Do not refresh.</a:t>
            </a:r>
          </a:p>
        </p:txBody>
      </p:sp>
      <p:sp>
        <p:nvSpPr>
          <p:cNvPr id="20" name="TextBox 19"/>
          <p:cNvSpPr txBox="1"/>
          <p:nvPr/>
        </p:nvSpPr>
        <p:spPr>
          <a:xfrm>
            <a:off x="384048" y="5532120"/>
            <a:ext cx="6784848" cy="237744"/>
          </a:xfrm>
          <a:prstGeom prst="rect">
            <a:avLst/>
          </a:prstGeom>
          <a:noFill/>
        </p:spPr>
        <p:txBody>
          <a:bodyPr wrap="square" lIns="0" rIns="0" tIns="0" bIns="0"/>
          <a:lstStyle/>
          <a:p>
            <a:pPr algn="l">
              <a:lnSpc>
                <a:spcPct val="105000"/>
              </a:lnSpc>
              <a:spcBef>
                <a:spcPts val="0"/>
              </a:spcBef>
              <a:spcAft>
                <a:spcPts val="200"/>
              </a:spcAft>
            </a:pPr>
            <a:r>
              <a:rPr sz="1400" b="1">
                <a:solidFill>
                  <a:srgbClr val="1A1A1A"/>
                </a:solidFill>
                <a:latin typeface="Calibri"/>
                <a:ea typeface="Calibri"/>
                <a:cs typeface="Calibri"/>
              </a:rPr>
              <a:t>They cannot read the cards</a:t>
            </a:r>
          </a:p>
        </p:txBody>
      </p:sp>
      <p:sp>
        <p:nvSpPr>
          <p:cNvPr id="21" name="TextBox 20"/>
          <p:cNvSpPr txBox="1"/>
          <p:nvPr/>
        </p:nvSpPr>
        <p:spPr>
          <a:xfrm>
            <a:off x="384048" y="5769864"/>
            <a:ext cx="6784848" cy="43891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Use the zoom control. Don't ask them to lean in for thirty minutes.</a:t>
            </a:r>
          </a:p>
        </p:txBody>
      </p:sp>
      <p:sp>
        <p:nvSpPr>
          <p:cNvPr id="22" name="TextBox 21"/>
          <p:cNvSpPr txBox="1"/>
          <p:nvPr/>
        </p:nvSpPr>
        <p:spPr>
          <a:xfrm>
            <a:off x="384048" y="6281928"/>
            <a:ext cx="6784848" cy="237744"/>
          </a:xfrm>
          <a:prstGeom prst="rect">
            <a:avLst/>
          </a:prstGeom>
          <a:noFill/>
        </p:spPr>
        <p:txBody>
          <a:bodyPr wrap="square" lIns="0" rIns="0" tIns="0" bIns="0"/>
          <a:lstStyle/>
          <a:p>
            <a:pPr algn="l">
              <a:lnSpc>
                <a:spcPct val="105000"/>
              </a:lnSpc>
              <a:spcBef>
                <a:spcPts val="0"/>
              </a:spcBef>
              <a:spcAft>
                <a:spcPts val="200"/>
              </a:spcAft>
            </a:pPr>
            <a:r>
              <a:rPr sz="1400" b="1">
                <a:solidFill>
                  <a:srgbClr val="1A1A1A"/>
                </a:solidFill>
                <a:latin typeface="Calibri"/>
                <a:ea typeface="Calibri"/>
                <a:cs typeface="Calibri"/>
              </a:rPr>
              <a:t>The assistant wrote something they hate</a:t>
            </a:r>
          </a:p>
        </p:txBody>
      </p:sp>
      <p:sp>
        <p:nvSpPr>
          <p:cNvPr id="23" name="TextBox 22"/>
          <p:cNvSpPr txBox="1"/>
          <p:nvPr/>
        </p:nvSpPr>
        <p:spPr>
          <a:xfrm>
            <a:off x="384048" y="6519672"/>
            <a:ext cx="6784848" cy="43891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Dismiss, don't Accept. It does not change the box until they accept it.</a:t>
            </a:r>
          </a:p>
        </p:txBody>
      </p:sp>
      <p:sp>
        <p:nvSpPr>
          <p:cNvPr id="24" name="TextBox 23"/>
          <p:cNvSpPr txBox="1"/>
          <p:nvPr/>
        </p:nvSpPr>
        <p:spPr>
          <a:xfrm>
            <a:off x="384048" y="7031736"/>
            <a:ext cx="6784848" cy="237744"/>
          </a:xfrm>
          <a:prstGeom prst="rect">
            <a:avLst/>
          </a:prstGeom>
          <a:noFill/>
        </p:spPr>
        <p:txBody>
          <a:bodyPr wrap="square" lIns="0" rIns="0" tIns="0" bIns="0"/>
          <a:lstStyle/>
          <a:p>
            <a:pPr algn="l">
              <a:lnSpc>
                <a:spcPct val="105000"/>
              </a:lnSpc>
              <a:spcBef>
                <a:spcPts val="0"/>
              </a:spcBef>
              <a:spcAft>
                <a:spcPts val="200"/>
              </a:spcAft>
            </a:pPr>
            <a:r>
              <a:rPr sz="1400" b="1">
                <a:solidFill>
                  <a:srgbClr val="1A1A1A"/>
                </a:solidFill>
                <a:latin typeface="Calibri"/>
                <a:ea typeface="Calibri"/>
                <a:cs typeface="Calibri"/>
              </a:rPr>
              <a:t>One person is typing everyone's idea</a:t>
            </a:r>
          </a:p>
        </p:txBody>
      </p:sp>
      <p:sp>
        <p:nvSpPr>
          <p:cNvPr id="25" name="TextBox 24"/>
          <p:cNvSpPr txBox="1"/>
          <p:nvPr/>
        </p:nvSpPr>
        <p:spPr>
          <a:xfrm>
            <a:off x="384048" y="7269480"/>
            <a:ext cx="6784848" cy="43891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“Leader drives. The other four decide the next sentence.” Then move to the next table.</a:t>
            </a:r>
          </a:p>
        </p:txBody>
      </p:sp>
      <p:sp>
        <p:nvSpPr>
          <p:cNvPr id="26" name="TextBox 25"/>
          <p:cNvSpPr txBox="1"/>
          <p:nvPr/>
        </p:nvSpPr>
        <p:spPr>
          <a:xfrm>
            <a:off x="384048" y="7781544"/>
            <a:ext cx="6784848" cy="237744"/>
          </a:xfrm>
          <a:prstGeom prst="rect">
            <a:avLst/>
          </a:prstGeom>
          <a:noFill/>
        </p:spPr>
        <p:txBody>
          <a:bodyPr wrap="square" lIns="0" rIns="0" tIns="0" bIns="0"/>
          <a:lstStyle/>
          <a:p>
            <a:pPr algn="l">
              <a:lnSpc>
                <a:spcPct val="105000"/>
              </a:lnSpc>
              <a:spcBef>
                <a:spcPts val="0"/>
              </a:spcBef>
              <a:spcAft>
                <a:spcPts val="200"/>
              </a:spcAft>
            </a:pPr>
            <a:r>
              <a:rPr sz="1400" b="1">
                <a:solidFill>
                  <a:srgbClr val="1A1A1A"/>
                </a:solidFill>
                <a:latin typeface="Calibri"/>
                <a:ea typeface="Calibri"/>
                <a:cs typeface="Calibri"/>
              </a:rPr>
              <a:t>You are tempted to fix the words</a:t>
            </a:r>
          </a:p>
        </p:txBody>
      </p:sp>
      <p:sp>
        <p:nvSpPr>
          <p:cNvPr id="27" name="TextBox 26"/>
          <p:cNvSpPr txBox="1"/>
          <p:nvPr/>
        </p:nvSpPr>
        <p:spPr>
          <a:xfrm>
            <a:off x="384048" y="8019288"/>
            <a:ext cx="6784848" cy="438912"/>
          </a:xfrm>
          <a:prstGeom prst="rect">
            <a:avLst/>
          </a:prstGeom>
          <a:noFill/>
        </p:spPr>
        <p:txBody>
          <a:bodyPr wrap="square" lIns="0" rIns="0" tIns="0" bIns="0"/>
          <a:lstStyle/>
          <a:p>
            <a:pPr algn="l">
              <a:lnSpc>
                <a:spcPct val="105000"/>
              </a:lnSpc>
              <a:spcBef>
                <a:spcPts val="0"/>
              </a:spcBef>
              <a:spcAft>
                <a:spcPts val="200"/>
              </a:spcAft>
            </a:pPr>
            <a:r>
              <a:rPr sz="1300" b="0">
                <a:solidFill>
                  <a:srgbClr val="4A4A4A"/>
                </a:solidFill>
                <a:latin typeface="Calibri"/>
                <a:ea typeface="Calibri"/>
                <a:cs typeface="Calibri"/>
              </a:rPr>
              <a:t>Don't. A clumsy sentence they believe is more useful to you than a clean sentence you wrote.</a:t>
            </a:r>
          </a:p>
        </p:txBody>
      </p:sp>
      <p:sp>
        <p:nvSpPr>
          <p:cNvPr id="28" name="TextBox 27"/>
          <p:cNvSpPr txBox="1"/>
          <p:nvPr/>
        </p:nvSpPr>
        <p:spPr>
          <a:xfrm>
            <a:off x="384048" y="8686800"/>
            <a:ext cx="6784848" cy="1371600"/>
          </a:xfrm>
          <a:prstGeom prst="rect">
            <a:avLst/>
          </a:prstGeom>
          <a:noFill/>
        </p:spPr>
        <p:txBody>
          <a:bodyPr wrap="square" lIns="0" rIns="0" tIns="0" bIns="0"/>
          <a:lstStyle/>
          <a:p>
            <a:pPr algn="l">
              <a:lnSpc>
                <a:spcPct val="105000"/>
              </a:lnSpc>
              <a:spcBef>
                <a:spcPts val="0"/>
              </a:spcBef>
              <a:spcAft>
                <a:spcPts val="400"/>
              </a:spcAft>
            </a:pPr>
            <a:r>
              <a:rPr sz="1600" b="1">
                <a:solidFill>
                  <a:srgbClr val="1A1A1A"/>
                </a:solidFill>
                <a:latin typeface="Calibri"/>
                <a:ea typeface="Calibri"/>
                <a:cs typeface="Calibri"/>
              </a:rPr>
              <a:t>After the room clears</a:t>
            </a:r>
          </a:p>
          <a:p>
            <a:pPr algn="l">
              <a:lnSpc>
                <a:spcPct val="105000"/>
              </a:lnSpc>
              <a:spcBef>
                <a:spcPts val="0"/>
              </a:spcBef>
              <a:spcAft>
                <a:spcPts val="200"/>
              </a:spcAft>
            </a:pPr>
            <a:r>
              <a:rPr sz="1400" b="0">
                <a:solidFill>
                  <a:srgbClr val="1A1A1A"/>
                </a:solidFill>
                <a:latin typeface="Calibri"/>
                <a:ea typeface="Calibri"/>
                <a:cs typeface="Calibri"/>
              </a:rPr>
              <a:t>Photograph the tally before you pack. If a laptop still has a demo up, that is the group's record of the session. Don't press Start fresh on the way 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Wealth Symposium facilitator guide</dc:title>
  <dc:subject>AI Powered, Human Led</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